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57" r:id="rId5"/>
    <p:sldId id="261" r:id="rId6"/>
    <p:sldId id="260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63" d="100"/>
          <a:sy n="63" d="100"/>
        </p:scale>
        <p:origin x="0" y="21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E0AA1-F5BB-4F9F-ACA4-DBCB4E3F49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B150D9-56E9-458B-8724-51BC240E19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34583B-AA20-4B43-80F0-B61A26C0A5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8D689-C696-4805-86EB-0FFAB371ED7A}" type="datetimeFigureOut">
              <a:rPr lang="en-IN" smtClean="0"/>
              <a:pPr/>
              <a:t>18-03-2026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E4C15C-B0A3-4BB2-ACDE-2593B7154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9B61BA-2D31-483B-A2B8-35B1C752C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FE0B3-5523-49EA-88C0-6BEA9C32E49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97639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36422-57A1-4326-86F3-4D8076070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3AF903-1B38-4162-A767-775CF90FD0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028301-7EF0-45FC-AEC5-C157F74BA7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8D689-C696-4805-86EB-0FFAB371ED7A}" type="datetimeFigureOut">
              <a:rPr lang="en-IN" smtClean="0"/>
              <a:pPr/>
              <a:t>18-03-2026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EF4EE0-47CA-4EB2-A09E-9A0C6534F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6D7A9B-4953-4CD9-A339-74E835025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FE0B3-5523-49EA-88C0-6BEA9C32E49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5175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98068-E849-4974-B82F-35814BA8F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FCB587-D46B-4386-A64D-52D70F5590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5E3573-E3A1-419E-B83A-C14D63BAB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8D689-C696-4805-86EB-0FFAB371ED7A}" type="datetimeFigureOut">
              <a:rPr lang="en-IN" smtClean="0"/>
              <a:pPr/>
              <a:t>18-03-2026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98778F-10E7-4B4F-A2A0-18F708F1BA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77E25F-8A88-4C61-8BCC-07DDBDC14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FE0B3-5523-49EA-88C0-6BEA9C32E49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39500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73FB9-2AEA-43AA-B0BF-13BC4946B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854B1E-448F-4C14-BD03-79FF268903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1E2CA9-3466-4521-AF08-4CD4583CDB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075DAF-8BC8-4CC5-9172-E4C7A6A5A6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8D689-C696-4805-86EB-0FFAB371ED7A}" type="datetimeFigureOut">
              <a:rPr lang="en-IN" smtClean="0"/>
              <a:pPr/>
              <a:t>18-03-2026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47C524-3391-4C1B-B992-8ED4F1B22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B4434B-D5D4-4B72-9091-7BCC7B69C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FE0B3-5523-49EA-88C0-6BEA9C32E49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91490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CBFCA-F878-4D19-AEA1-21EB9B37FB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3956F2-5874-4805-8144-9E6F008D44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6B78B8-D8C9-4B06-98D4-B12C3BA588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E16877-8254-484E-8954-8F61E566CF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59716C-82B4-4B2D-8233-CBC5A37661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6A8C3C-64DF-427D-A8FB-DF3EDB5E8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8D689-C696-4805-86EB-0FFAB371ED7A}" type="datetimeFigureOut">
              <a:rPr lang="en-IN" smtClean="0"/>
              <a:pPr/>
              <a:t>18-03-2026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C8F8040-AEA7-44FE-B8C8-C29A1FFDC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213FB1F-799A-476C-A015-2A9451BF9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FE0B3-5523-49EA-88C0-6BEA9C32E49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1222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97229-8116-4A7E-A343-3F0EB9033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0E5455-A4EB-4A8C-953E-ADF5408D6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8D689-C696-4805-86EB-0FFAB371ED7A}" type="datetimeFigureOut">
              <a:rPr lang="en-IN" smtClean="0"/>
              <a:pPr/>
              <a:t>18-03-2026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012A94-848A-4855-A34C-85836C9CE1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21B4B6-2A4B-4A35-9529-484BC2528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FE0B3-5523-49EA-88C0-6BEA9C32E49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18168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F2BE956-35E9-460F-AB71-0DA575FCB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8D689-C696-4805-86EB-0FFAB371ED7A}" type="datetimeFigureOut">
              <a:rPr lang="en-IN" smtClean="0"/>
              <a:pPr/>
              <a:t>18-03-2026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42A17C-F333-4735-A49B-0BBE24AE8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E01252-697A-4E83-A87C-2F24C8BB9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FE0B3-5523-49EA-88C0-6BEA9C32E49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55739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A4C68-942B-49F8-B96D-1C60901EA8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B45BFB-1C30-4769-9D37-95E9A9F2FB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190CD6-C2B1-423F-9879-B6C93C5CFA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15A5EC-C70D-4D8D-AEAC-7DA2281EF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8D689-C696-4805-86EB-0FFAB371ED7A}" type="datetimeFigureOut">
              <a:rPr lang="en-IN" smtClean="0"/>
              <a:pPr/>
              <a:t>18-03-2026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8D3E05-3D10-435E-A721-2F35FD65C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BB0E38-2991-4090-B405-81F383BDF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FE0B3-5523-49EA-88C0-6BEA9C32E49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42842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1EA5B-DEED-42CE-B43B-A588FC035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F648802-6794-4DB2-92D3-3BDE8D7D96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163EF0-0A47-4E5D-930F-0D75DFA8D7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034A91-900D-49DD-AF7F-3E3707EE3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8D689-C696-4805-86EB-0FFAB371ED7A}" type="datetimeFigureOut">
              <a:rPr lang="en-IN" smtClean="0"/>
              <a:pPr/>
              <a:t>18-03-2026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935EC9-C14E-4CE2-BB01-5926165D5D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4E7BF5-70E9-4585-8504-C9ACF5503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FE0B3-5523-49EA-88C0-6BEA9C32E49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4532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E9485-20B9-4552-B370-276F603899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8AB139-1A4D-4A57-ABB7-A2450D2161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048F07-F014-4BE7-8F40-A57003F73C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8D689-C696-4805-86EB-0FFAB371ED7A}" type="datetimeFigureOut">
              <a:rPr lang="en-IN" smtClean="0"/>
              <a:pPr/>
              <a:t>18-03-2026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F446D-3B1C-41FB-A30B-8B11C72E05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4A7C93-ACCC-49D1-90ED-7FBAA2251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FE0B3-5523-49EA-88C0-6BEA9C32E49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99057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10E824-51BD-4B34-8B63-0DCD060FD5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357101-344F-4015-80E4-75C39EAD8A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BDD983-159F-44E1-ACD3-B70522CC7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8D689-C696-4805-86EB-0FFAB371ED7A}" type="datetimeFigureOut">
              <a:rPr lang="en-IN" smtClean="0"/>
              <a:pPr/>
              <a:t>18-03-2026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7AECEF-19BD-4427-BA5B-26631322C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948C56-59C7-4E63-AC8E-4CA7108D1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FE0B3-5523-49EA-88C0-6BEA9C32E49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70432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6A3271C-9194-4C8C-8B1E-7D22024E3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2E35DE-F385-4A93-8475-2BCB6A40B1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DC9973-7930-4B89-9BB0-DECD53CCAA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08D689-C696-4805-86EB-0FFAB371ED7A}" type="datetimeFigureOut">
              <a:rPr lang="en-IN" smtClean="0"/>
              <a:pPr/>
              <a:t>18-03-2026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ED077B-EFAC-4ECA-A095-C4D581DD9F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A6F75C-1A34-4D91-B740-716DFF3BE9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FFE0B3-5523-49EA-88C0-6BEA9C32E49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16487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CFF1D50-C121-4ADA-BEF1-26A2CD51F61B}"/>
              </a:ext>
            </a:extLst>
          </p:cNvPr>
          <p:cNvSpPr/>
          <p:nvPr/>
        </p:nvSpPr>
        <p:spPr>
          <a:xfrm>
            <a:off x="0" y="0"/>
            <a:ext cx="12192000" cy="601587"/>
          </a:xfrm>
          <a:prstGeom prst="rect">
            <a:avLst/>
          </a:prstGeom>
          <a:ln>
            <a:noFill/>
          </a:ln>
        </p:spPr>
        <p:style>
          <a:lnRef idx="0">
            <a:scrgbClr r="0" g="0" b="0"/>
          </a:lnRef>
          <a:fillRef idx="1002">
            <a:schemeClr val="dk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914400" lvl="1" indent="-457200">
              <a:buFont typeface="Times New Roman" panose="02020603050405020304" pitchFamily="18" charset="0"/>
              <a:buChar char="※"/>
            </a:pPr>
            <a:r>
              <a:rPr lang="en-IN" sz="2800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Experiment 3.C. </a:t>
            </a:r>
          </a:p>
        </p:txBody>
      </p:sp>
      <p:sp>
        <p:nvSpPr>
          <p:cNvPr id="5" name="Parallelogram 4">
            <a:extLst>
              <a:ext uri="{FF2B5EF4-FFF2-40B4-BE49-F238E27FC236}">
                <a16:creationId xmlns:a16="http://schemas.microsoft.com/office/drawing/2014/main" id="{1B22AE38-5AF9-4E5E-A677-FF6F989944E1}"/>
              </a:ext>
            </a:extLst>
          </p:cNvPr>
          <p:cNvSpPr/>
          <p:nvPr/>
        </p:nvSpPr>
        <p:spPr>
          <a:xfrm>
            <a:off x="10373267" y="-9866"/>
            <a:ext cx="2621279" cy="601587"/>
          </a:xfrm>
          <a:prstGeom prst="parallelogram">
            <a:avLst>
              <a:gd name="adj" fmla="val 116679"/>
            </a:avLst>
          </a:prstGeom>
          <a:gradFill flip="none" rotWithShape="1">
            <a:gsLst>
              <a:gs pos="0">
                <a:srgbClr val="BF8AC8"/>
              </a:gs>
              <a:gs pos="100000">
                <a:srgbClr val="FAF3FF">
                  <a:alpha val="85000"/>
                </a:srgbClr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6" name="Parallelogram 5">
            <a:extLst>
              <a:ext uri="{FF2B5EF4-FFF2-40B4-BE49-F238E27FC236}">
                <a16:creationId xmlns:a16="http://schemas.microsoft.com/office/drawing/2014/main" id="{5603342C-AA28-480B-9C44-D9B7190B7B95}"/>
              </a:ext>
            </a:extLst>
          </p:cNvPr>
          <p:cNvSpPr/>
          <p:nvPr/>
        </p:nvSpPr>
        <p:spPr>
          <a:xfrm>
            <a:off x="10301682" y="275"/>
            <a:ext cx="856238" cy="601036"/>
          </a:xfrm>
          <a:prstGeom prst="parallelogram">
            <a:avLst>
              <a:gd name="adj" fmla="val 114588"/>
            </a:avLst>
          </a:prstGeom>
          <a:solidFill>
            <a:srgbClr val="A31153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Parallelogram 6">
            <a:extLst>
              <a:ext uri="{FF2B5EF4-FFF2-40B4-BE49-F238E27FC236}">
                <a16:creationId xmlns:a16="http://schemas.microsoft.com/office/drawing/2014/main" id="{F23D1D4B-B393-4B79-A9C9-AC0E8747298B}"/>
              </a:ext>
            </a:extLst>
          </p:cNvPr>
          <p:cNvSpPr/>
          <p:nvPr/>
        </p:nvSpPr>
        <p:spPr>
          <a:xfrm>
            <a:off x="10537743" y="-9590"/>
            <a:ext cx="856238" cy="601036"/>
          </a:xfrm>
          <a:prstGeom prst="parallelogram">
            <a:avLst>
              <a:gd name="adj" fmla="val 115984"/>
            </a:avLst>
          </a:prstGeom>
          <a:solidFill>
            <a:srgbClr val="953B91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" name="Picture 2" descr="IIT Kharagpur Logo - PNG Logo Vector Brand Downloads (SVG, EPS)">
            <a:extLst>
              <a:ext uri="{FF2B5EF4-FFF2-40B4-BE49-F238E27FC236}">
                <a16:creationId xmlns:a16="http://schemas.microsoft.com/office/drawing/2014/main" id="{8AD57773-8805-4A4D-99E2-50792EA21A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7717" y="-26316"/>
            <a:ext cx="634486" cy="634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EF478A8-792E-4FF2-B2F9-B3CF28EF0D51}"/>
              </a:ext>
            </a:extLst>
          </p:cNvPr>
          <p:cNvSpPr txBox="1"/>
          <p:nvPr/>
        </p:nvSpPr>
        <p:spPr>
          <a:xfrm>
            <a:off x="566120" y="800100"/>
            <a:ext cx="10591800" cy="58035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500" dirty="0"/>
              <a:t>Design a digital clock using common-cathode 7-segment display modules and a mode switch. The clock normally displays the time in </a:t>
            </a:r>
            <a:r>
              <a:rPr lang="en-US" sz="2500" b="1" dirty="0" err="1">
                <a:solidFill>
                  <a:srgbClr val="FF0000"/>
                </a:solidFill>
              </a:rPr>
              <a:t>hh</a:t>
            </a:r>
            <a:r>
              <a:rPr lang="en-US" sz="2500" b="1" dirty="0">
                <a:solidFill>
                  <a:srgbClr val="FF0000"/>
                </a:solidFill>
              </a:rPr>
              <a:t>-mm-ss</a:t>
            </a:r>
            <a:r>
              <a:rPr lang="en-US" sz="2500" dirty="0">
                <a:solidFill>
                  <a:srgbClr val="FF0000"/>
                </a:solidFill>
              </a:rPr>
              <a:t> </a:t>
            </a:r>
            <a:r>
              <a:rPr lang="en-US" sz="2500" dirty="0"/>
              <a:t>format. It updates time automatically using the </a:t>
            </a:r>
            <a:r>
              <a:rPr lang="en-US" sz="2500" b="1" dirty="0">
                <a:solidFill>
                  <a:srgbClr val="FF0000"/>
                </a:solidFill>
              </a:rPr>
              <a:t>timer interrupt </a:t>
            </a:r>
            <a:r>
              <a:rPr lang="en-US" sz="2500" dirty="0"/>
              <a:t>of the microcontroller. On pressing the mode switch, the display changes to </a:t>
            </a:r>
            <a:r>
              <a:rPr lang="en-US" sz="2500" b="1" dirty="0">
                <a:solidFill>
                  <a:srgbClr val="FF0000"/>
                </a:solidFill>
              </a:rPr>
              <a:t>stopwatch</a:t>
            </a:r>
            <a:r>
              <a:rPr lang="en-US" sz="2500" dirty="0"/>
              <a:t> </a:t>
            </a:r>
            <a:r>
              <a:rPr lang="en-US" sz="2500" b="1" dirty="0">
                <a:solidFill>
                  <a:srgbClr val="FF0000"/>
                </a:solidFill>
              </a:rPr>
              <a:t>mode </a:t>
            </a:r>
            <a:r>
              <a:rPr lang="en-US" sz="2500" dirty="0"/>
              <a:t>in </a:t>
            </a:r>
            <a:r>
              <a:rPr lang="en-US" sz="2500" dirty="0" err="1"/>
              <a:t>hh</a:t>
            </a:r>
            <a:r>
              <a:rPr lang="en-US" sz="2500" dirty="0"/>
              <a:t>-mm-ss format. In stopwatch mode there are two more buttons – </a:t>
            </a:r>
            <a:r>
              <a:rPr lang="en-US" sz="2500" b="1" dirty="0">
                <a:solidFill>
                  <a:srgbClr val="FF0000"/>
                </a:solidFill>
              </a:rPr>
              <a:t>start and stop</a:t>
            </a:r>
            <a:r>
              <a:rPr lang="en-US" sz="2500" dirty="0"/>
              <a:t>. The start button starts the stopwatch resetting it to zero, stop button stops the stopwatch. It should be noted that in the stopwatch mode, </a:t>
            </a:r>
            <a:r>
              <a:rPr lang="en-US" sz="2500" b="1" dirty="0">
                <a:solidFill>
                  <a:srgbClr val="FF0000"/>
                </a:solidFill>
              </a:rPr>
              <a:t>both normal clock and stopwatch clock get updated with timer interrupt</a:t>
            </a:r>
            <a:r>
              <a:rPr lang="en-US" sz="2500" dirty="0"/>
              <a:t>. This ensures that the normal time also gets updated during the run of stopwatch. On pressing the mode button once more, the display returns to show </a:t>
            </a:r>
            <a:r>
              <a:rPr lang="en-US" sz="2500" dirty="0" err="1"/>
              <a:t>clocktime</a:t>
            </a:r>
            <a:r>
              <a:rPr lang="en-US" sz="2500" dirty="0"/>
              <a:t>.</a:t>
            </a:r>
            <a:endParaRPr lang="en-IN" sz="2500" dirty="0"/>
          </a:p>
        </p:txBody>
      </p:sp>
    </p:spTree>
    <p:extLst>
      <p:ext uri="{BB962C8B-B14F-4D97-AF65-F5344CB8AC3E}">
        <p14:creationId xmlns:p14="http://schemas.microsoft.com/office/powerpoint/2010/main" val="41147035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CFF1D50-C121-4ADA-BEF1-26A2CD51F61B}"/>
              </a:ext>
            </a:extLst>
          </p:cNvPr>
          <p:cNvSpPr/>
          <p:nvPr/>
        </p:nvSpPr>
        <p:spPr>
          <a:xfrm>
            <a:off x="0" y="0"/>
            <a:ext cx="12192000" cy="601587"/>
          </a:xfrm>
          <a:prstGeom prst="rect">
            <a:avLst/>
          </a:prstGeom>
          <a:ln>
            <a:noFill/>
          </a:ln>
        </p:spPr>
        <p:style>
          <a:lnRef idx="0">
            <a:scrgbClr r="0" g="0" b="0"/>
          </a:lnRef>
          <a:fillRef idx="1002">
            <a:schemeClr val="dk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914400" lvl="1" indent="-457200">
              <a:buFont typeface="Times New Roman" panose="02020603050405020304" pitchFamily="18" charset="0"/>
              <a:buChar char="※"/>
            </a:pPr>
            <a:r>
              <a:rPr lang="en-IN" sz="2800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Connection (Multiplexing with buffers) </a:t>
            </a:r>
          </a:p>
        </p:txBody>
      </p:sp>
      <p:sp>
        <p:nvSpPr>
          <p:cNvPr id="5" name="Parallelogram 4">
            <a:extLst>
              <a:ext uri="{FF2B5EF4-FFF2-40B4-BE49-F238E27FC236}">
                <a16:creationId xmlns:a16="http://schemas.microsoft.com/office/drawing/2014/main" id="{1B22AE38-5AF9-4E5E-A677-FF6F989944E1}"/>
              </a:ext>
            </a:extLst>
          </p:cNvPr>
          <p:cNvSpPr/>
          <p:nvPr/>
        </p:nvSpPr>
        <p:spPr>
          <a:xfrm>
            <a:off x="10373267" y="-9866"/>
            <a:ext cx="2621279" cy="601587"/>
          </a:xfrm>
          <a:prstGeom prst="parallelogram">
            <a:avLst>
              <a:gd name="adj" fmla="val 116679"/>
            </a:avLst>
          </a:prstGeom>
          <a:gradFill flip="none" rotWithShape="1">
            <a:gsLst>
              <a:gs pos="0">
                <a:srgbClr val="BF8AC8"/>
              </a:gs>
              <a:gs pos="100000">
                <a:srgbClr val="FAF3FF">
                  <a:alpha val="85000"/>
                </a:srgbClr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6" name="Parallelogram 5">
            <a:extLst>
              <a:ext uri="{FF2B5EF4-FFF2-40B4-BE49-F238E27FC236}">
                <a16:creationId xmlns:a16="http://schemas.microsoft.com/office/drawing/2014/main" id="{5603342C-AA28-480B-9C44-D9B7190B7B95}"/>
              </a:ext>
            </a:extLst>
          </p:cNvPr>
          <p:cNvSpPr/>
          <p:nvPr/>
        </p:nvSpPr>
        <p:spPr>
          <a:xfrm>
            <a:off x="10301682" y="275"/>
            <a:ext cx="856238" cy="601036"/>
          </a:xfrm>
          <a:prstGeom prst="parallelogram">
            <a:avLst>
              <a:gd name="adj" fmla="val 114588"/>
            </a:avLst>
          </a:prstGeom>
          <a:solidFill>
            <a:srgbClr val="A31153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Parallelogram 6">
            <a:extLst>
              <a:ext uri="{FF2B5EF4-FFF2-40B4-BE49-F238E27FC236}">
                <a16:creationId xmlns:a16="http://schemas.microsoft.com/office/drawing/2014/main" id="{F23D1D4B-B393-4B79-A9C9-AC0E8747298B}"/>
              </a:ext>
            </a:extLst>
          </p:cNvPr>
          <p:cNvSpPr/>
          <p:nvPr/>
        </p:nvSpPr>
        <p:spPr>
          <a:xfrm>
            <a:off x="10537743" y="-9590"/>
            <a:ext cx="856238" cy="601036"/>
          </a:xfrm>
          <a:prstGeom prst="parallelogram">
            <a:avLst>
              <a:gd name="adj" fmla="val 115984"/>
            </a:avLst>
          </a:prstGeom>
          <a:solidFill>
            <a:srgbClr val="953B91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" name="Picture 2" descr="IIT Kharagpur Logo - PNG Logo Vector Brand Downloads (SVG, EPS)">
            <a:extLst>
              <a:ext uri="{FF2B5EF4-FFF2-40B4-BE49-F238E27FC236}">
                <a16:creationId xmlns:a16="http://schemas.microsoft.com/office/drawing/2014/main" id="{8AD57773-8805-4A4D-99E2-50792EA21A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7717" y="-26316"/>
            <a:ext cx="634486" cy="634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2CEF44DA-E0C8-425A-A8EF-407CC072BBB7}"/>
              </a:ext>
            </a:extLst>
          </p:cNvPr>
          <p:cNvSpPr/>
          <p:nvPr/>
        </p:nvSpPr>
        <p:spPr>
          <a:xfrm>
            <a:off x="1852793" y="1618351"/>
            <a:ext cx="2108200" cy="69426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74245 </a:t>
            </a:r>
            <a:endParaRPr lang="en-IN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B642B6C-152E-4DE1-8001-6F47188B5316}"/>
              </a:ext>
            </a:extLst>
          </p:cNvPr>
          <p:cNvSpPr/>
          <p:nvPr/>
        </p:nvSpPr>
        <p:spPr>
          <a:xfrm>
            <a:off x="7202106" y="5151094"/>
            <a:ext cx="2108200" cy="69426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74245</a:t>
            </a:r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B005D20-115B-41C5-8C1C-8FE508283B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9068" y="1492572"/>
            <a:ext cx="700732" cy="94109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B48FE8F-7ED7-49FC-BC67-1AF99CC1E5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4199" y="1492573"/>
            <a:ext cx="700732" cy="94109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38C8F62-AA64-400D-A9C4-71360AE06F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8217" y="1494934"/>
            <a:ext cx="700732" cy="94109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37CA294-870A-48CA-97EC-A785A6409B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6279" y="1483879"/>
            <a:ext cx="700732" cy="94109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BDCEA78-B0B0-4980-A03E-3674BCF6AD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7011" y="1483879"/>
            <a:ext cx="700732" cy="94109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77FFEF0-A253-41CC-897F-807BD45C5E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5474" y="1492573"/>
            <a:ext cx="700732" cy="941099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6B93B022-E410-4D95-BDFE-59064C8B60C8}"/>
              </a:ext>
            </a:extLst>
          </p:cNvPr>
          <p:cNvSpPr/>
          <p:nvPr/>
        </p:nvSpPr>
        <p:spPr>
          <a:xfrm>
            <a:off x="1668969" y="3397040"/>
            <a:ext cx="2497667" cy="1159934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J3</a:t>
            </a:r>
            <a:endParaRPr lang="en-IN" sz="3600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2367CF3-669E-46D3-8134-6E790009EEFC}"/>
              </a:ext>
            </a:extLst>
          </p:cNvPr>
          <p:cNvSpPr/>
          <p:nvPr/>
        </p:nvSpPr>
        <p:spPr>
          <a:xfrm>
            <a:off x="847706" y="2633999"/>
            <a:ext cx="719663" cy="575732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mode</a:t>
            </a:r>
            <a:endParaRPr lang="en-IN" sz="1000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CA2E1A50-C9C3-418C-A309-AEC4D25FC4DF}"/>
              </a:ext>
            </a:extLst>
          </p:cNvPr>
          <p:cNvSpPr/>
          <p:nvPr/>
        </p:nvSpPr>
        <p:spPr>
          <a:xfrm>
            <a:off x="7913338" y="5927253"/>
            <a:ext cx="719663" cy="575732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start</a:t>
            </a:r>
            <a:endParaRPr lang="en-IN" sz="1000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4D54445E-F92F-4693-8D10-2E4C6F5EC8D6}"/>
              </a:ext>
            </a:extLst>
          </p:cNvPr>
          <p:cNvSpPr/>
          <p:nvPr/>
        </p:nvSpPr>
        <p:spPr>
          <a:xfrm>
            <a:off x="6239179" y="5927254"/>
            <a:ext cx="719662" cy="57573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Stop</a:t>
            </a:r>
            <a:endParaRPr lang="en-IN" sz="1050" dirty="0"/>
          </a:p>
        </p:txBody>
      </p: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2F210AD5-1B82-47D1-A7CC-F72A89012013}"/>
              </a:ext>
            </a:extLst>
          </p:cNvPr>
          <p:cNvCxnSpPr>
            <a:cxnSpLocks/>
            <a:stCxn id="19" idx="6"/>
          </p:cNvCxnSpPr>
          <p:nvPr/>
        </p:nvCxnSpPr>
        <p:spPr>
          <a:xfrm flipV="1">
            <a:off x="1567369" y="2312898"/>
            <a:ext cx="508859" cy="608967"/>
          </a:xfrm>
          <a:prstGeom prst="bentConnector2">
            <a:avLst/>
          </a:prstGeom>
          <a:ln w="444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07430872-594A-4E47-B6FB-7AEBFCE2E2FA}"/>
              </a:ext>
            </a:extLst>
          </p:cNvPr>
          <p:cNvCxnSpPr>
            <a:cxnSpLocks/>
          </p:cNvCxnSpPr>
          <p:nvPr/>
        </p:nvCxnSpPr>
        <p:spPr>
          <a:xfrm rot="10800000">
            <a:off x="7476567" y="5852160"/>
            <a:ext cx="458288" cy="384474"/>
          </a:xfrm>
          <a:prstGeom prst="bentConnector3">
            <a:avLst>
              <a:gd name="adj1" fmla="val 99295"/>
            </a:avLst>
          </a:prstGeom>
          <a:ln w="412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8A69F402-987A-4BC3-92EE-86CB9C0DE8B8}"/>
              </a:ext>
            </a:extLst>
          </p:cNvPr>
          <p:cNvCxnSpPr>
            <a:cxnSpLocks/>
            <a:stCxn id="21" idx="6"/>
          </p:cNvCxnSpPr>
          <p:nvPr/>
        </p:nvCxnSpPr>
        <p:spPr>
          <a:xfrm flipV="1">
            <a:off x="6958841" y="5830645"/>
            <a:ext cx="334844" cy="384475"/>
          </a:xfrm>
          <a:prstGeom prst="bentConnector2">
            <a:avLst/>
          </a:prstGeom>
          <a:ln w="444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979D4628-BFA2-4E25-BB7A-960437F35D00}"/>
              </a:ext>
            </a:extLst>
          </p:cNvPr>
          <p:cNvSpPr txBox="1"/>
          <p:nvPr/>
        </p:nvSpPr>
        <p:spPr>
          <a:xfrm>
            <a:off x="2355923" y="4245434"/>
            <a:ext cx="12214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Port-C (0-2)</a:t>
            </a:r>
            <a:endParaRPr lang="en-IN" sz="1600" dirty="0">
              <a:solidFill>
                <a:schemeClr val="bg1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48B9E2A-8187-4F39-9B49-EF93F9C70BEF}"/>
              </a:ext>
            </a:extLst>
          </p:cNvPr>
          <p:cNvSpPr txBox="1"/>
          <p:nvPr/>
        </p:nvSpPr>
        <p:spPr>
          <a:xfrm rot="16200000">
            <a:off x="3474283" y="3712545"/>
            <a:ext cx="8922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Port-B (0-5)</a:t>
            </a:r>
            <a:endParaRPr lang="en-IN" sz="1600" dirty="0">
              <a:solidFill>
                <a:schemeClr val="bg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F16F404-2D25-4A71-9A14-227B2F4576AF}"/>
              </a:ext>
            </a:extLst>
          </p:cNvPr>
          <p:cNvSpPr txBox="1"/>
          <p:nvPr/>
        </p:nvSpPr>
        <p:spPr>
          <a:xfrm>
            <a:off x="2280622" y="3359455"/>
            <a:ext cx="13231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Port-A (0 -7)</a:t>
            </a:r>
            <a:endParaRPr lang="en-IN" sz="1600" dirty="0">
              <a:solidFill>
                <a:schemeClr val="bg1"/>
              </a:solidFill>
            </a:endParaRPr>
          </a:p>
        </p:txBody>
      </p: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7EEEC78A-DA75-4D73-A7D9-BAAE3FCA151F}"/>
              </a:ext>
            </a:extLst>
          </p:cNvPr>
          <p:cNvCxnSpPr>
            <a:cxnSpLocks/>
            <a:stCxn id="18" idx="0"/>
            <a:endCxn id="10" idx="2"/>
          </p:cNvCxnSpPr>
          <p:nvPr/>
        </p:nvCxnSpPr>
        <p:spPr>
          <a:xfrm rot="16200000" flipV="1">
            <a:off x="2370137" y="2849374"/>
            <a:ext cx="1084423" cy="10910"/>
          </a:xfrm>
          <a:prstGeom prst="bentConnector3">
            <a:avLst>
              <a:gd name="adj1" fmla="val 50000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DA7F8103-1F2C-4AAD-85A2-8EA6A3C71A0B}"/>
              </a:ext>
            </a:extLst>
          </p:cNvPr>
          <p:cNvCxnSpPr>
            <a:stCxn id="10" idx="0"/>
            <a:endCxn id="12" idx="1"/>
          </p:cNvCxnSpPr>
          <p:nvPr/>
        </p:nvCxnSpPr>
        <p:spPr>
          <a:xfrm rot="16200000" flipH="1">
            <a:off x="4280594" y="244649"/>
            <a:ext cx="344771" cy="3092175"/>
          </a:xfrm>
          <a:prstGeom prst="bentConnector4">
            <a:avLst>
              <a:gd name="adj1" fmla="val -126926"/>
              <a:gd name="adj2" fmla="val 67045"/>
            </a:avLst>
          </a:prstGeom>
          <a:ln w="444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02E301E0-7CCF-424F-AF38-E586C4567754}"/>
              </a:ext>
            </a:extLst>
          </p:cNvPr>
          <p:cNvCxnSpPr>
            <a:stCxn id="13" idx="3"/>
            <a:endCxn id="17" idx="1"/>
          </p:cNvCxnSpPr>
          <p:nvPr/>
        </p:nvCxnSpPr>
        <p:spPr>
          <a:xfrm>
            <a:off x="7424931" y="1963123"/>
            <a:ext cx="130543" cy="12700"/>
          </a:xfrm>
          <a:prstGeom prst="bentConnector3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ctor: Elbow 47">
            <a:extLst>
              <a:ext uri="{FF2B5EF4-FFF2-40B4-BE49-F238E27FC236}">
                <a16:creationId xmlns:a16="http://schemas.microsoft.com/office/drawing/2014/main" id="{80BE01FD-58E0-447D-82EF-0672E19FD759}"/>
              </a:ext>
            </a:extLst>
          </p:cNvPr>
          <p:cNvCxnSpPr>
            <a:stCxn id="14" idx="3"/>
            <a:endCxn id="15" idx="1"/>
          </p:cNvCxnSpPr>
          <p:nvPr/>
        </p:nvCxnSpPr>
        <p:spPr>
          <a:xfrm flipV="1">
            <a:off x="8968949" y="1954429"/>
            <a:ext cx="167330" cy="11055"/>
          </a:xfrm>
          <a:prstGeom prst="bentConnector3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nector: Elbow 49">
            <a:extLst>
              <a:ext uri="{FF2B5EF4-FFF2-40B4-BE49-F238E27FC236}">
                <a16:creationId xmlns:a16="http://schemas.microsoft.com/office/drawing/2014/main" id="{1EDFD96A-FFDE-4C76-879A-659C3A6579EA}"/>
              </a:ext>
            </a:extLst>
          </p:cNvPr>
          <p:cNvCxnSpPr/>
          <p:nvPr/>
        </p:nvCxnSpPr>
        <p:spPr>
          <a:xfrm>
            <a:off x="4177394" y="3944734"/>
            <a:ext cx="3084018" cy="2768038"/>
          </a:xfrm>
          <a:prstGeom prst="bentConnector3">
            <a:avLst>
              <a:gd name="adj1" fmla="val 50000"/>
            </a:avLst>
          </a:prstGeom>
          <a:ln w="444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ctor: Elbow 54">
            <a:extLst>
              <a:ext uri="{FF2B5EF4-FFF2-40B4-BE49-F238E27FC236}">
                <a16:creationId xmlns:a16="http://schemas.microsoft.com/office/drawing/2014/main" id="{D5D4FEBA-322B-456C-8E03-9BB7F63D8874}"/>
              </a:ext>
            </a:extLst>
          </p:cNvPr>
          <p:cNvCxnSpPr>
            <a:cxnSpLocks/>
            <a:stCxn id="11" idx="0"/>
            <a:endCxn id="12" idx="2"/>
          </p:cNvCxnSpPr>
          <p:nvPr/>
        </p:nvCxnSpPr>
        <p:spPr>
          <a:xfrm rot="16200000" flipV="1">
            <a:off x="5944109" y="2838997"/>
            <a:ext cx="2717423" cy="1906772"/>
          </a:xfrm>
          <a:prstGeom prst="bentConnector3">
            <a:avLst>
              <a:gd name="adj1" fmla="val 50000"/>
            </a:avLst>
          </a:prstGeom>
          <a:ln w="444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ctor: Elbow 57">
            <a:extLst>
              <a:ext uri="{FF2B5EF4-FFF2-40B4-BE49-F238E27FC236}">
                <a16:creationId xmlns:a16="http://schemas.microsoft.com/office/drawing/2014/main" id="{6CA4C4EB-638B-4E87-BF56-C8F5B2C373AC}"/>
              </a:ext>
            </a:extLst>
          </p:cNvPr>
          <p:cNvCxnSpPr>
            <a:cxnSpLocks/>
            <a:stCxn id="11" idx="0"/>
            <a:endCxn id="13" idx="2"/>
          </p:cNvCxnSpPr>
          <p:nvPr/>
        </p:nvCxnSpPr>
        <p:spPr>
          <a:xfrm rot="16200000" flipV="1">
            <a:off x="6306675" y="3201562"/>
            <a:ext cx="2717422" cy="1181641"/>
          </a:xfrm>
          <a:prstGeom prst="bentConnector3">
            <a:avLst>
              <a:gd name="adj1" fmla="val 50000"/>
            </a:avLst>
          </a:prstGeom>
          <a:ln w="444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nector: Elbow 60">
            <a:extLst>
              <a:ext uri="{FF2B5EF4-FFF2-40B4-BE49-F238E27FC236}">
                <a16:creationId xmlns:a16="http://schemas.microsoft.com/office/drawing/2014/main" id="{DAC05887-872A-4C68-B6C3-B762CBEEE4BE}"/>
              </a:ext>
            </a:extLst>
          </p:cNvPr>
          <p:cNvCxnSpPr>
            <a:cxnSpLocks/>
            <a:stCxn id="11" idx="0"/>
            <a:endCxn id="17" idx="2"/>
          </p:cNvCxnSpPr>
          <p:nvPr/>
        </p:nvCxnSpPr>
        <p:spPr>
          <a:xfrm rot="16200000" flipV="1">
            <a:off x="6722312" y="3617200"/>
            <a:ext cx="2717422" cy="350366"/>
          </a:xfrm>
          <a:prstGeom prst="bentConnector3">
            <a:avLst>
              <a:gd name="adj1" fmla="val 50000"/>
            </a:avLst>
          </a:prstGeom>
          <a:ln w="444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nector: Elbow 63">
            <a:extLst>
              <a:ext uri="{FF2B5EF4-FFF2-40B4-BE49-F238E27FC236}">
                <a16:creationId xmlns:a16="http://schemas.microsoft.com/office/drawing/2014/main" id="{1AFA216E-D8E8-457F-8A8D-64F0A4CB4593}"/>
              </a:ext>
            </a:extLst>
          </p:cNvPr>
          <p:cNvCxnSpPr>
            <a:stCxn id="11" idx="0"/>
            <a:endCxn id="14" idx="2"/>
          </p:cNvCxnSpPr>
          <p:nvPr/>
        </p:nvCxnSpPr>
        <p:spPr>
          <a:xfrm rot="5400000" flipH="1" flipV="1">
            <a:off x="7079864" y="3612376"/>
            <a:ext cx="2715061" cy="362377"/>
          </a:xfrm>
          <a:prstGeom prst="bentConnector3">
            <a:avLst>
              <a:gd name="adj1" fmla="val 50000"/>
            </a:avLst>
          </a:prstGeom>
          <a:ln w="444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nector: Elbow 65">
            <a:extLst>
              <a:ext uri="{FF2B5EF4-FFF2-40B4-BE49-F238E27FC236}">
                <a16:creationId xmlns:a16="http://schemas.microsoft.com/office/drawing/2014/main" id="{420F898C-D482-43B0-819E-3D8BAC85F53C}"/>
              </a:ext>
            </a:extLst>
          </p:cNvPr>
          <p:cNvCxnSpPr>
            <a:cxnSpLocks/>
            <a:stCxn id="11" idx="0"/>
            <a:endCxn id="15" idx="2"/>
          </p:cNvCxnSpPr>
          <p:nvPr/>
        </p:nvCxnSpPr>
        <p:spPr>
          <a:xfrm rot="5400000" flipH="1" flipV="1">
            <a:off x="7508367" y="3172817"/>
            <a:ext cx="2726116" cy="1230439"/>
          </a:xfrm>
          <a:prstGeom prst="bentConnector3">
            <a:avLst>
              <a:gd name="adj1" fmla="val 50000"/>
            </a:avLst>
          </a:prstGeom>
          <a:ln w="444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nnector: Elbow 68">
            <a:extLst>
              <a:ext uri="{FF2B5EF4-FFF2-40B4-BE49-F238E27FC236}">
                <a16:creationId xmlns:a16="http://schemas.microsoft.com/office/drawing/2014/main" id="{5724E58A-F7F1-457E-96B0-592F290F6B3D}"/>
              </a:ext>
            </a:extLst>
          </p:cNvPr>
          <p:cNvCxnSpPr>
            <a:stCxn id="11" idx="0"/>
            <a:endCxn id="16" idx="2"/>
          </p:cNvCxnSpPr>
          <p:nvPr/>
        </p:nvCxnSpPr>
        <p:spPr>
          <a:xfrm rot="5400000" flipH="1" flipV="1">
            <a:off x="7858733" y="2822451"/>
            <a:ext cx="2726116" cy="1931171"/>
          </a:xfrm>
          <a:prstGeom prst="bentConnector3">
            <a:avLst>
              <a:gd name="adj1" fmla="val 50000"/>
            </a:avLst>
          </a:prstGeom>
          <a:ln w="444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Elbow Connector 51"/>
          <p:cNvCxnSpPr/>
          <p:nvPr/>
        </p:nvCxnSpPr>
        <p:spPr>
          <a:xfrm rot="5400000">
            <a:off x="-414168" y="2533427"/>
            <a:ext cx="3377899" cy="1516828"/>
          </a:xfrm>
          <a:prstGeom prst="bentConnector3">
            <a:avLst>
              <a:gd name="adj1" fmla="val -12739"/>
            </a:avLst>
          </a:prstGeom>
          <a:ln w="44450">
            <a:solidFill>
              <a:srgbClr val="7030A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Elbow Connector 64"/>
          <p:cNvCxnSpPr>
            <a:endCxn id="18" idx="2"/>
          </p:cNvCxnSpPr>
          <p:nvPr/>
        </p:nvCxnSpPr>
        <p:spPr>
          <a:xfrm flipV="1">
            <a:off x="505610" y="4556974"/>
            <a:ext cx="2412193" cy="445332"/>
          </a:xfrm>
          <a:prstGeom prst="bentConnector2">
            <a:avLst/>
          </a:prstGeom>
          <a:ln w="44450">
            <a:solidFill>
              <a:srgbClr val="7030A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Elbow Connector 79"/>
          <p:cNvCxnSpPr>
            <a:endCxn id="18" idx="2"/>
          </p:cNvCxnSpPr>
          <p:nvPr/>
        </p:nvCxnSpPr>
        <p:spPr>
          <a:xfrm rot="10800000">
            <a:off x="2917803" y="4556974"/>
            <a:ext cx="4386640" cy="445332"/>
          </a:xfrm>
          <a:prstGeom prst="bentConnector2">
            <a:avLst/>
          </a:prstGeom>
          <a:ln w="44450">
            <a:solidFill>
              <a:srgbClr val="7030A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98"/>
          <p:cNvCxnSpPr>
            <a:cxnSpLocks/>
          </p:cNvCxnSpPr>
          <p:nvPr/>
        </p:nvCxnSpPr>
        <p:spPr>
          <a:xfrm flipH="1" flipV="1">
            <a:off x="7293687" y="4980791"/>
            <a:ext cx="9963" cy="162160"/>
          </a:xfrm>
          <a:prstGeom prst="straightConnector1">
            <a:avLst/>
          </a:prstGeom>
          <a:ln w="44450">
            <a:solidFill>
              <a:srgbClr val="7030A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TextBox 102"/>
          <p:cNvSpPr txBox="1"/>
          <p:nvPr/>
        </p:nvSpPr>
        <p:spPr>
          <a:xfrm rot="16200000">
            <a:off x="1600384" y="2357217"/>
            <a:ext cx="634702" cy="3765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A0</a:t>
            </a:r>
          </a:p>
        </p:txBody>
      </p:sp>
      <p:sp>
        <p:nvSpPr>
          <p:cNvPr id="104" name="TextBox 103"/>
          <p:cNvSpPr txBox="1"/>
          <p:nvPr/>
        </p:nvSpPr>
        <p:spPr>
          <a:xfrm rot="5400000">
            <a:off x="2605144" y="2648176"/>
            <a:ext cx="10094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A1 – A7</a:t>
            </a:r>
          </a:p>
        </p:txBody>
      </p:sp>
      <p:sp>
        <p:nvSpPr>
          <p:cNvPr id="105" name="TextBox 104"/>
          <p:cNvSpPr txBox="1"/>
          <p:nvPr/>
        </p:nvSpPr>
        <p:spPr>
          <a:xfrm rot="5400000">
            <a:off x="8878644" y="6168621"/>
            <a:ext cx="10094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A2 – A7</a:t>
            </a:r>
          </a:p>
        </p:txBody>
      </p:sp>
      <p:cxnSp>
        <p:nvCxnSpPr>
          <p:cNvPr id="108" name="Connector: Elbow 31">
            <a:extLst>
              <a:ext uri="{FF2B5EF4-FFF2-40B4-BE49-F238E27FC236}">
                <a16:creationId xmlns:a16="http://schemas.microsoft.com/office/drawing/2014/main" id="{7EEEC78A-DA75-4D73-A7D9-BAAE3FCA151F}"/>
              </a:ext>
            </a:extLst>
          </p:cNvPr>
          <p:cNvCxnSpPr>
            <a:cxnSpLocks/>
          </p:cNvCxnSpPr>
          <p:nvPr/>
        </p:nvCxnSpPr>
        <p:spPr>
          <a:xfrm flipV="1">
            <a:off x="7207626" y="5862918"/>
            <a:ext cx="1904101" cy="849854"/>
          </a:xfrm>
          <a:prstGeom prst="bentConnector3">
            <a:avLst>
              <a:gd name="adj1" fmla="val 100848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/>
          <p:cNvSpPr txBox="1"/>
          <p:nvPr/>
        </p:nvSpPr>
        <p:spPr>
          <a:xfrm>
            <a:off x="6929716" y="6241230"/>
            <a:ext cx="634702" cy="3765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A0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7413812" y="6230472"/>
            <a:ext cx="634702" cy="3765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A1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617234" y="1197686"/>
            <a:ext cx="10094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B0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2986452" y="1211231"/>
            <a:ext cx="10094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B1 – B7</a:t>
            </a:r>
          </a:p>
        </p:txBody>
      </p:sp>
      <p:sp>
        <p:nvSpPr>
          <p:cNvPr id="117" name="TextBox 116"/>
          <p:cNvSpPr txBox="1"/>
          <p:nvPr/>
        </p:nvSpPr>
        <p:spPr>
          <a:xfrm rot="5400000">
            <a:off x="7985760" y="4468011"/>
            <a:ext cx="10094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B2- B7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6256967" y="4635224"/>
            <a:ext cx="10094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B0, B1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EAC00E4-836D-5656-5138-FFEA9432A2B0}"/>
              </a:ext>
            </a:extLst>
          </p:cNvPr>
          <p:cNvCxnSpPr>
            <a:cxnSpLocks/>
          </p:cNvCxnSpPr>
          <p:nvPr/>
        </p:nvCxnSpPr>
        <p:spPr>
          <a:xfrm flipV="1">
            <a:off x="2824511" y="2816887"/>
            <a:ext cx="185313" cy="10869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67885FC-6F71-3550-DEA9-C3BA6D586E58}"/>
              </a:ext>
            </a:extLst>
          </p:cNvPr>
          <p:cNvCxnSpPr>
            <a:cxnSpLocks/>
          </p:cNvCxnSpPr>
          <p:nvPr/>
        </p:nvCxnSpPr>
        <p:spPr>
          <a:xfrm flipV="1">
            <a:off x="2814235" y="1360471"/>
            <a:ext cx="185313" cy="10869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C3A6D616-D1CE-EC55-C6E5-DD4B29BFAE99}"/>
              </a:ext>
            </a:extLst>
          </p:cNvPr>
          <p:cNvCxnSpPr>
            <a:cxnSpLocks/>
          </p:cNvCxnSpPr>
          <p:nvPr/>
        </p:nvCxnSpPr>
        <p:spPr>
          <a:xfrm flipV="1">
            <a:off x="4929991" y="3866607"/>
            <a:ext cx="159726" cy="14989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95DC1FC2-E173-8B0D-B989-B06433F4850C}"/>
              </a:ext>
            </a:extLst>
          </p:cNvPr>
          <p:cNvCxnSpPr>
            <a:cxnSpLocks/>
          </p:cNvCxnSpPr>
          <p:nvPr/>
        </p:nvCxnSpPr>
        <p:spPr>
          <a:xfrm flipV="1">
            <a:off x="8181625" y="4409187"/>
            <a:ext cx="159726" cy="14989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8568A311-A0BF-6272-1E17-E7C5BEF27892}"/>
              </a:ext>
            </a:extLst>
          </p:cNvPr>
          <p:cNvCxnSpPr>
            <a:cxnSpLocks/>
          </p:cNvCxnSpPr>
          <p:nvPr/>
        </p:nvCxnSpPr>
        <p:spPr>
          <a:xfrm flipV="1">
            <a:off x="2834277" y="4777470"/>
            <a:ext cx="159726" cy="14989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D9691317-B837-2F30-8367-6FFC7F4CA744}"/>
              </a:ext>
            </a:extLst>
          </p:cNvPr>
          <p:cNvSpPr txBox="1"/>
          <p:nvPr/>
        </p:nvSpPr>
        <p:spPr>
          <a:xfrm>
            <a:off x="2960041" y="4628577"/>
            <a:ext cx="451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0435BB9-AB19-EC3E-AF80-B1E48B58A07E}"/>
              </a:ext>
            </a:extLst>
          </p:cNvPr>
          <p:cNvSpPr txBox="1"/>
          <p:nvPr/>
        </p:nvSpPr>
        <p:spPr>
          <a:xfrm>
            <a:off x="2565134" y="1211193"/>
            <a:ext cx="451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729BF23-D3CB-63F4-9DFD-75932E86A2C9}"/>
              </a:ext>
            </a:extLst>
          </p:cNvPr>
          <p:cNvSpPr txBox="1"/>
          <p:nvPr/>
        </p:nvSpPr>
        <p:spPr>
          <a:xfrm>
            <a:off x="4885225" y="3994684"/>
            <a:ext cx="451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F2D960F-DD5D-89E8-9B75-1A1E916B8E2A}"/>
              </a:ext>
            </a:extLst>
          </p:cNvPr>
          <p:cNvSpPr txBox="1"/>
          <p:nvPr/>
        </p:nvSpPr>
        <p:spPr>
          <a:xfrm>
            <a:off x="7886253" y="4283345"/>
            <a:ext cx="451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100AFDD-97B4-C0AA-BD21-996CB453B39E}"/>
              </a:ext>
            </a:extLst>
          </p:cNvPr>
          <p:cNvSpPr txBox="1"/>
          <p:nvPr/>
        </p:nvSpPr>
        <p:spPr>
          <a:xfrm>
            <a:off x="2561456" y="2692039"/>
            <a:ext cx="451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27BD1F2-6714-4512-26A3-CFB7BC377488}"/>
              </a:ext>
            </a:extLst>
          </p:cNvPr>
          <p:cNvSpPr txBox="1"/>
          <p:nvPr/>
        </p:nvSpPr>
        <p:spPr>
          <a:xfrm>
            <a:off x="6350641" y="2360367"/>
            <a:ext cx="451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/>
                </a:solidFill>
              </a:rPr>
              <a:t>CC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4394469-BAAF-7121-D74B-602D0E741687}"/>
              </a:ext>
            </a:extLst>
          </p:cNvPr>
          <p:cNvSpPr txBox="1"/>
          <p:nvPr/>
        </p:nvSpPr>
        <p:spPr>
          <a:xfrm>
            <a:off x="7076898" y="2338646"/>
            <a:ext cx="451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/>
                </a:solidFill>
              </a:rPr>
              <a:t>CC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D759CA7-96DB-666C-B82A-ABE714AF2C92}"/>
              </a:ext>
            </a:extLst>
          </p:cNvPr>
          <p:cNvSpPr txBox="1"/>
          <p:nvPr/>
        </p:nvSpPr>
        <p:spPr>
          <a:xfrm>
            <a:off x="7925896" y="2315167"/>
            <a:ext cx="451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/>
                </a:solidFill>
              </a:rPr>
              <a:t>CC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DA4E429-4E16-C976-BD2A-D942DE9E4832}"/>
              </a:ext>
            </a:extLst>
          </p:cNvPr>
          <p:cNvSpPr txBox="1"/>
          <p:nvPr/>
        </p:nvSpPr>
        <p:spPr>
          <a:xfrm>
            <a:off x="8626628" y="2325723"/>
            <a:ext cx="451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/>
                </a:solidFill>
              </a:rPr>
              <a:t>CC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7F2B7B6-9681-FC7B-B22A-EDB4F9A4AB8B}"/>
              </a:ext>
            </a:extLst>
          </p:cNvPr>
          <p:cNvSpPr txBox="1"/>
          <p:nvPr/>
        </p:nvSpPr>
        <p:spPr>
          <a:xfrm>
            <a:off x="9494690" y="2312617"/>
            <a:ext cx="451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/>
                </a:solidFill>
              </a:rPr>
              <a:t>CC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4F74808-F1EB-592B-0407-E29A9DA3FE26}"/>
              </a:ext>
            </a:extLst>
          </p:cNvPr>
          <p:cNvSpPr txBox="1"/>
          <p:nvPr/>
        </p:nvSpPr>
        <p:spPr>
          <a:xfrm>
            <a:off x="10161433" y="2312617"/>
            <a:ext cx="451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/>
                </a:solidFill>
              </a:rPr>
              <a:t>CC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A3D62CF-2733-4383-C944-2E55EC841562}"/>
              </a:ext>
            </a:extLst>
          </p:cNvPr>
          <p:cNvSpPr txBox="1"/>
          <p:nvPr/>
        </p:nvSpPr>
        <p:spPr>
          <a:xfrm>
            <a:off x="5350595" y="1618350"/>
            <a:ext cx="7007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/>
                </a:solidFill>
              </a:rPr>
              <a:t>A-G</a:t>
            </a:r>
          </a:p>
        </p:txBody>
      </p:sp>
    </p:spTree>
    <p:extLst>
      <p:ext uri="{BB962C8B-B14F-4D97-AF65-F5344CB8AC3E}">
        <p14:creationId xmlns:p14="http://schemas.microsoft.com/office/powerpoint/2010/main" val="40235381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CFF1D50-C121-4ADA-BEF1-26A2CD51F61B}"/>
              </a:ext>
            </a:extLst>
          </p:cNvPr>
          <p:cNvSpPr/>
          <p:nvPr/>
        </p:nvSpPr>
        <p:spPr>
          <a:xfrm>
            <a:off x="0" y="0"/>
            <a:ext cx="12192000" cy="601587"/>
          </a:xfrm>
          <a:prstGeom prst="rect">
            <a:avLst/>
          </a:prstGeom>
          <a:ln>
            <a:noFill/>
          </a:ln>
        </p:spPr>
        <p:style>
          <a:lnRef idx="0">
            <a:scrgbClr r="0" g="0" b="0"/>
          </a:lnRef>
          <a:fillRef idx="1002">
            <a:schemeClr val="dk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914400" lvl="1" indent="-457200">
              <a:buFont typeface="Times New Roman" panose="02020603050405020304" pitchFamily="18" charset="0"/>
              <a:buChar char="※"/>
            </a:pPr>
            <a:r>
              <a:rPr lang="en-IN" sz="2800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INTERRUPTS:</a:t>
            </a:r>
          </a:p>
        </p:txBody>
      </p:sp>
      <p:sp>
        <p:nvSpPr>
          <p:cNvPr id="5" name="Parallelogram 4">
            <a:extLst>
              <a:ext uri="{FF2B5EF4-FFF2-40B4-BE49-F238E27FC236}">
                <a16:creationId xmlns:a16="http://schemas.microsoft.com/office/drawing/2014/main" id="{1B22AE38-5AF9-4E5E-A677-FF6F989944E1}"/>
              </a:ext>
            </a:extLst>
          </p:cNvPr>
          <p:cNvSpPr/>
          <p:nvPr/>
        </p:nvSpPr>
        <p:spPr>
          <a:xfrm>
            <a:off x="10373267" y="-9866"/>
            <a:ext cx="2621279" cy="601587"/>
          </a:xfrm>
          <a:prstGeom prst="parallelogram">
            <a:avLst>
              <a:gd name="adj" fmla="val 116679"/>
            </a:avLst>
          </a:prstGeom>
          <a:gradFill flip="none" rotWithShape="1">
            <a:gsLst>
              <a:gs pos="0">
                <a:srgbClr val="BF8AC8"/>
              </a:gs>
              <a:gs pos="100000">
                <a:srgbClr val="FAF3FF">
                  <a:alpha val="85000"/>
                </a:srgbClr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6" name="Parallelogram 5">
            <a:extLst>
              <a:ext uri="{FF2B5EF4-FFF2-40B4-BE49-F238E27FC236}">
                <a16:creationId xmlns:a16="http://schemas.microsoft.com/office/drawing/2014/main" id="{5603342C-AA28-480B-9C44-D9B7190B7B95}"/>
              </a:ext>
            </a:extLst>
          </p:cNvPr>
          <p:cNvSpPr/>
          <p:nvPr/>
        </p:nvSpPr>
        <p:spPr>
          <a:xfrm>
            <a:off x="10301682" y="275"/>
            <a:ext cx="856238" cy="601036"/>
          </a:xfrm>
          <a:prstGeom prst="parallelogram">
            <a:avLst>
              <a:gd name="adj" fmla="val 114588"/>
            </a:avLst>
          </a:prstGeom>
          <a:solidFill>
            <a:srgbClr val="A31153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Parallelogram 6">
            <a:extLst>
              <a:ext uri="{FF2B5EF4-FFF2-40B4-BE49-F238E27FC236}">
                <a16:creationId xmlns:a16="http://schemas.microsoft.com/office/drawing/2014/main" id="{F23D1D4B-B393-4B79-A9C9-AC0E8747298B}"/>
              </a:ext>
            </a:extLst>
          </p:cNvPr>
          <p:cNvSpPr/>
          <p:nvPr/>
        </p:nvSpPr>
        <p:spPr>
          <a:xfrm>
            <a:off x="10537743" y="-9590"/>
            <a:ext cx="856238" cy="601036"/>
          </a:xfrm>
          <a:prstGeom prst="parallelogram">
            <a:avLst>
              <a:gd name="adj" fmla="val 115984"/>
            </a:avLst>
          </a:prstGeom>
          <a:solidFill>
            <a:srgbClr val="953B91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" name="Picture 2" descr="IIT Kharagpur Logo - PNG Logo Vector Brand Downloads (SVG, EPS)">
            <a:extLst>
              <a:ext uri="{FF2B5EF4-FFF2-40B4-BE49-F238E27FC236}">
                <a16:creationId xmlns:a16="http://schemas.microsoft.com/office/drawing/2014/main" id="{8AD57773-8805-4A4D-99E2-50792EA21A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7717" y="-26316"/>
            <a:ext cx="634486" cy="634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E7558959-9BD0-415F-B5A1-782B18F331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41" y="712798"/>
            <a:ext cx="6564882" cy="2349680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4FBE9CB-2FD8-422E-AC8A-B04A93A4F316}"/>
              </a:ext>
            </a:extLst>
          </p:cNvPr>
          <p:cNvSpPr/>
          <p:nvPr/>
        </p:nvSpPr>
        <p:spPr>
          <a:xfrm>
            <a:off x="6592389" y="712798"/>
            <a:ext cx="5399814" cy="6001511"/>
          </a:xfrm>
          <a:prstGeom prst="roundRect">
            <a:avLst>
              <a:gd name="adj" fmla="val 10315"/>
            </a:avLst>
          </a:prstGeom>
          <a:solidFill>
            <a:schemeClr val="bg2"/>
          </a:solidFill>
          <a:ln>
            <a:solidFill>
              <a:srgbClr val="7030A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lvl="1"/>
            <a:r>
              <a:rPr lang="en-US" sz="2400" dirty="0"/>
              <a:t>ORG </a:t>
            </a:r>
            <a:r>
              <a:rPr lang="en-US" sz="2400" dirty="0">
                <a:solidFill>
                  <a:srgbClr val="C00000"/>
                </a:solidFill>
              </a:rPr>
              <a:t>25FE H</a:t>
            </a:r>
            <a:r>
              <a:rPr lang="en-US" sz="2400" dirty="0"/>
              <a:t> 	   ;IE0 address</a:t>
            </a:r>
          </a:p>
          <a:p>
            <a:pPr lvl="1"/>
            <a:r>
              <a:rPr lang="en-US" sz="2400" dirty="0"/>
              <a:t>LJMP </a:t>
            </a:r>
            <a:r>
              <a:rPr lang="en-US" sz="2400" dirty="0">
                <a:solidFill>
                  <a:srgbClr val="00B050"/>
                </a:solidFill>
              </a:rPr>
              <a:t>OUR_ISR</a:t>
            </a:r>
            <a:endParaRPr lang="en-US" sz="2400" dirty="0"/>
          </a:p>
          <a:p>
            <a:pPr lvl="1"/>
            <a:r>
              <a:rPr lang="en-US" sz="2400" dirty="0"/>
              <a:t>…</a:t>
            </a:r>
          </a:p>
          <a:p>
            <a:pPr lvl="1"/>
            <a:r>
              <a:rPr lang="en-US" sz="2400" dirty="0"/>
              <a:t>ORG </a:t>
            </a:r>
            <a:r>
              <a:rPr lang="en-US" sz="2400" dirty="0">
                <a:solidFill>
                  <a:srgbClr val="C00000"/>
                </a:solidFill>
              </a:rPr>
              <a:t>8100 H</a:t>
            </a:r>
            <a:endParaRPr lang="en-US" sz="2400" dirty="0"/>
          </a:p>
          <a:p>
            <a:pPr lvl="1"/>
            <a:r>
              <a:rPr lang="en-US" sz="2400" dirty="0">
                <a:solidFill>
                  <a:schemeClr val="accent1"/>
                </a:solidFill>
              </a:rPr>
              <a:t>MAIN_LOOP:</a:t>
            </a:r>
            <a:endParaRPr lang="en-US" sz="2400" dirty="0"/>
          </a:p>
          <a:p>
            <a:pPr lvl="1"/>
            <a:r>
              <a:rPr lang="en-US" sz="2400" dirty="0"/>
              <a:t>…</a:t>
            </a:r>
          </a:p>
          <a:p>
            <a:pPr lvl="1"/>
            <a:r>
              <a:rPr lang="en-US" sz="2400" dirty="0"/>
              <a:t>SJMP </a:t>
            </a:r>
            <a:r>
              <a:rPr lang="en-US" sz="2400" dirty="0">
                <a:solidFill>
                  <a:schemeClr val="accent1"/>
                </a:solidFill>
              </a:rPr>
              <a:t>MAIN_LOOP</a:t>
            </a:r>
            <a:endParaRPr lang="en-US" sz="2400" dirty="0"/>
          </a:p>
          <a:p>
            <a:pPr lvl="1"/>
            <a:r>
              <a:rPr lang="en-US" sz="2400" dirty="0">
                <a:solidFill>
                  <a:srgbClr val="00B050"/>
                </a:solidFill>
              </a:rPr>
              <a:t>O</a:t>
            </a:r>
            <a:r>
              <a:rPr lang="en-IN" sz="2400" dirty="0">
                <a:solidFill>
                  <a:srgbClr val="00B050"/>
                </a:solidFill>
              </a:rPr>
              <a:t>UR_ISR</a:t>
            </a:r>
            <a:r>
              <a:rPr lang="en-IN" sz="2400" dirty="0"/>
              <a:t>:</a:t>
            </a:r>
            <a:br>
              <a:rPr lang="en-IN" sz="2400" dirty="0"/>
            </a:br>
            <a:r>
              <a:rPr lang="en-IN" sz="2400" dirty="0"/>
              <a:t>…</a:t>
            </a:r>
            <a:endParaRPr lang="en-US" sz="2400" dirty="0"/>
          </a:p>
          <a:p>
            <a:pPr lvl="1"/>
            <a:r>
              <a:rPr lang="en-US" sz="2400" dirty="0"/>
              <a:t>RETI 	    ;return from interrupt</a:t>
            </a:r>
          </a:p>
          <a:p>
            <a:pPr lvl="1"/>
            <a:r>
              <a:rPr lang="en-US" sz="2400" dirty="0">
                <a:solidFill>
                  <a:schemeClr val="accent2"/>
                </a:solidFill>
              </a:rPr>
              <a:t>TIMER</a:t>
            </a:r>
            <a:r>
              <a:rPr lang="en-IN" sz="2400" dirty="0">
                <a:solidFill>
                  <a:schemeClr val="accent2"/>
                </a:solidFill>
              </a:rPr>
              <a:t>_ISR</a:t>
            </a:r>
            <a:r>
              <a:rPr lang="en-IN" sz="2400" dirty="0"/>
              <a:t>:</a:t>
            </a:r>
            <a:br>
              <a:rPr lang="en-IN" sz="2400" dirty="0"/>
            </a:br>
            <a:r>
              <a:rPr lang="en-IN" sz="2400" dirty="0"/>
              <a:t>…</a:t>
            </a:r>
            <a:endParaRPr lang="en-US" sz="2400" dirty="0"/>
          </a:p>
          <a:p>
            <a:pPr lvl="1"/>
            <a:r>
              <a:rPr lang="en-US" sz="2400" dirty="0"/>
              <a:t>RETI 	     ;return from interrupt</a:t>
            </a:r>
          </a:p>
          <a:p>
            <a:pPr lvl="1"/>
            <a:r>
              <a:rPr lang="en-US" sz="2400" dirty="0"/>
              <a:t>…</a:t>
            </a:r>
          </a:p>
          <a:p>
            <a:pPr lvl="1"/>
            <a:r>
              <a:rPr lang="en-IN" sz="2400" dirty="0"/>
              <a:t>ORG </a:t>
            </a:r>
            <a:r>
              <a:rPr lang="en-IN" sz="2400" dirty="0">
                <a:solidFill>
                  <a:srgbClr val="C00000"/>
                </a:solidFill>
              </a:rPr>
              <a:t>FFF0 H </a:t>
            </a:r>
            <a:r>
              <a:rPr lang="en-IN" sz="2400" dirty="0"/>
              <a:t>	;timer 0 address</a:t>
            </a:r>
          </a:p>
          <a:p>
            <a:pPr lvl="1"/>
            <a:r>
              <a:rPr lang="en-IN" sz="2400" dirty="0"/>
              <a:t>LJMP </a:t>
            </a:r>
            <a:r>
              <a:rPr lang="en-IN" sz="2400" dirty="0">
                <a:solidFill>
                  <a:schemeClr val="accent2"/>
                </a:solidFill>
              </a:rPr>
              <a:t>TIMER_ISR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BEA9A56-740B-457E-8644-AFAA733DB7B1}"/>
              </a:ext>
            </a:extLst>
          </p:cNvPr>
          <p:cNvSpPr txBox="1"/>
          <p:nvPr/>
        </p:nvSpPr>
        <p:spPr>
          <a:xfrm>
            <a:off x="409251" y="3487783"/>
            <a:ext cx="5836229" cy="2677656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**External Interrupts can be configuring as level triggered as well as edge triggered. </a:t>
            </a:r>
          </a:p>
          <a:p>
            <a:br>
              <a:rPr lang="en-US" sz="2400" dirty="0"/>
            </a:br>
            <a:r>
              <a:rPr lang="en-US" sz="2400" b="1" dirty="0">
                <a:solidFill>
                  <a:srgbClr val="C00000"/>
                </a:solidFill>
              </a:rPr>
              <a:t>SETB IT0</a:t>
            </a:r>
            <a:r>
              <a:rPr lang="en-US" sz="2400" dirty="0"/>
              <a:t>		// IE0 configured as 				edge triggered </a:t>
            </a:r>
          </a:p>
          <a:p>
            <a:r>
              <a:rPr lang="en-US" sz="2400" b="1" dirty="0">
                <a:solidFill>
                  <a:srgbClr val="C00000"/>
                </a:solidFill>
              </a:rPr>
              <a:t>CLR IT0</a:t>
            </a:r>
            <a:r>
              <a:rPr lang="en-US" sz="2400" dirty="0"/>
              <a:t>		// IE0 configured as 				level triggered </a:t>
            </a:r>
          </a:p>
        </p:txBody>
      </p:sp>
    </p:spTree>
    <p:extLst>
      <p:ext uri="{BB962C8B-B14F-4D97-AF65-F5344CB8AC3E}">
        <p14:creationId xmlns:p14="http://schemas.microsoft.com/office/powerpoint/2010/main" val="26466120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CFF1D50-C121-4ADA-BEF1-26A2CD51F61B}"/>
              </a:ext>
            </a:extLst>
          </p:cNvPr>
          <p:cNvSpPr/>
          <p:nvPr/>
        </p:nvSpPr>
        <p:spPr>
          <a:xfrm>
            <a:off x="0" y="0"/>
            <a:ext cx="12192000" cy="601587"/>
          </a:xfrm>
          <a:prstGeom prst="rect">
            <a:avLst/>
          </a:prstGeom>
          <a:ln>
            <a:noFill/>
          </a:ln>
        </p:spPr>
        <p:style>
          <a:lnRef idx="0">
            <a:scrgbClr r="0" g="0" b="0"/>
          </a:lnRef>
          <a:fillRef idx="1002">
            <a:schemeClr val="dk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914400" lvl="1" indent="-457200">
              <a:buFont typeface="Times New Roman" panose="02020603050405020304" pitchFamily="18" charset="0"/>
              <a:buChar char="※"/>
            </a:pPr>
            <a:r>
              <a:rPr lang="en-IN" sz="2800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TIMER REGISTERS</a:t>
            </a:r>
          </a:p>
        </p:txBody>
      </p:sp>
      <p:sp>
        <p:nvSpPr>
          <p:cNvPr id="5" name="Parallelogram 4">
            <a:extLst>
              <a:ext uri="{FF2B5EF4-FFF2-40B4-BE49-F238E27FC236}">
                <a16:creationId xmlns:a16="http://schemas.microsoft.com/office/drawing/2014/main" id="{1B22AE38-5AF9-4E5E-A677-FF6F989944E1}"/>
              </a:ext>
            </a:extLst>
          </p:cNvPr>
          <p:cNvSpPr/>
          <p:nvPr/>
        </p:nvSpPr>
        <p:spPr>
          <a:xfrm>
            <a:off x="10373267" y="-9866"/>
            <a:ext cx="2621279" cy="601587"/>
          </a:xfrm>
          <a:prstGeom prst="parallelogram">
            <a:avLst>
              <a:gd name="adj" fmla="val 116679"/>
            </a:avLst>
          </a:prstGeom>
          <a:gradFill flip="none" rotWithShape="1">
            <a:gsLst>
              <a:gs pos="0">
                <a:srgbClr val="BF8AC8"/>
              </a:gs>
              <a:gs pos="100000">
                <a:srgbClr val="FAF3FF">
                  <a:alpha val="85000"/>
                </a:srgbClr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6" name="Parallelogram 5">
            <a:extLst>
              <a:ext uri="{FF2B5EF4-FFF2-40B4-BE49-F238E27FC236}">
                <a16:creationId xmlns:a16="http://schemas.microsoft.com/office/drawing/2014/main" id="{5603342C-AA28-480B-9C44-D9B7190B7B95}"/>
              </a:ext>
            </a:extLst>
          </p:cNvPr>
          <p:cNvSpPr/>
          <p:nvPr/>
        </p:nvSpPr>
        <p:spPr>
          <a:xfrm>
            <a:off x="10301682" y="275"/>
            <a:ext cx="856238" cy="601036"/>
          </a:xfrm>
          <a:prstGeom prst="parallelogram">
            <a:avLst>
              <a:gd name="adj" fmla="val 114588"/>
            </a:avLst>
          </a:prstGeom>
          <a:solidFill>
            <a:srgbClr val="A31153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Parallelogram 6">
            <a:extLst>
              <a:ext uri="{FF2B5EF4-FFF2-40B4-BE49-F238E27FC236}">
                <a16:creationId xmlns:a16="http://schemas.microsoft.com/office/drawing/2014/main" id="{F23D1D4B-B393-4B79-A9C9-AC0E8747298B}"/>
              </a:ext>
            </a:extLst>
          </p:cNvPr>
          <p:cNvSpPr/>
          <p:nvPr/>
        </p:nvSpPr>
        <p:spPr>
          <a:xfrm>
            <a:off x="10537743" y="-9590"/>
            <a:ext cx="856238" cy="601036"/>
          </a:xfrm>
          <a:prstGeom prst="parallelogram">
            <a:avLst>
              <a:gd name="adj" fmla="val 115984"/>
            </a:avLst>
          </a:prstGeom>
          <a:solidFill>
            <a:srgbClr val="953B91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" name="Picture 2" descr="IIT Kharagpur Logo - PNG Logo Vector Brand Downloads (SVG, EPS)">
            <a:extLst>
              <a:ext uri="{FF2B5EF4-FFF2-40B4-BE49-F238E27FC236}">
                <a16:creationId xmlns:a16="http://schemas.microsoft.com/office/drawing/2014/main" id="{8AD57773-8805-4A4D-99E2-50792EA21A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7717" y="-26316"/>
            <a:ext cx="634486" cy="634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37845F16-5A87-D2DF-8BE8-E3369760164D}"/>
              </a:ext>
            </a:extLst>
          </p:cNvPr>
          <p:cNvSpPr/>
          <p:nvPr/>
        </p:nvSpPr>
        <p:spPr>
          <a:xfrm>
            <a:off x="5843842" y="645524"/>
            <a:ext cx="6167012" cy="6167269"/>
          </a:xfrm>
          <a:prstGeom prst="roundRect">
            <a:avLst>
              <a:gd name="adj" fmla="val 6182"/>
            </a:avLst>
          </a:prstGeom>
          <a:solidFill>
            <a:schemeClr val="bg1"/>
          </a:solidFill>
          <a:ln w="5715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34095D64-CE42-1360-DBB6-63E19D4CDC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2026" y="800168"/>
            <a:ext cx="5351880" cy="73317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4697D422-63AE-F8D5-FD56-5CF0CAF32D7C}"/>
              </a:ext>
            </a:extLst>
          </p:cNvPr>
          <p:cNvSpPr txBox="1"/>
          <p:nvPr/>
        </p:nvSpPr>
        <p:spPr>
          <a:xfrm>
            <a:off x="6096000" y="1897689"/>
            <a:ext cx="6062452" cy="4204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C00000"/>
                </a:solidFill>
              </a:rPr>
              <a:t>IT0</a:t>
            </a:r>
            <a:r>
              <a:rPr lang="en-US" b="1" dirty="0"/>
              <a:t> 	TCON.0	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 Set/cleared -&gt; falling edge/low-level 			triggered for external interrupt 0. 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C00000"/>
                </a:solidFill>
              </a:rPr>
              <a:t>IE0</a:t>
            </a:r>
            <a:r>
              <a:rPr lang="en-US" b="1" dirty="0"/>
              <a:t> 	TCON.1	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 External interrupt 0 edge flag. 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C00000"/>
                </a:solidFill>
              </a:rPr>
              <a:t>IT1</a:t>
            </a:r>
            <a:r>
              <a:rPr lang="en-US" b="1" dirty="0"/>
              <a:t> 	TCON.2	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 Set/cleared-&gt;falling edge/low-level 			triggered for external interrupt 1.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b="1" dirty="0">
                <a:solidFill>
                  <a:srgbClr val="C00000"/>
                </a:solidFill>
              </a:rPr>
              <a:t>IE1 </a:t>
            </a:r>
            <a:r>
              <a:rPr lang="en-US" b="1" dirty="0"/>
              <a:t>	TCON.3 	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 External interrupt 1 edge flag. 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C00000"/>
                </a:solidFill>
              </a:rPr>
              <a:t>TR0</a:t>
            </a:r>
            <a:r>
              <a:rPr lang="en-US" b="1" dirty="0"/>
              <a:t> 	TCON.0	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 Timer 0 run control bit. 1/0 -&gt; on/off.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C00000"/>
                </a:solidFill>
              </a:rPr>
              <a:t>TF0</a:t>
            </a:r>
            <a:r>
              <a:rPr lang="en-US" b="1" dirty="0"/>
              <a:t> 	TCON.1	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Timer 0 overflow flag.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C00000"/>
                </a:solidFill>
              </a:rPr>
              <a:t>TR1</a:t>
            </a:r>
            <a:r>
              <a:rPr lang="en-US" b="1" dirty="0"/>
              <a:t> 	TCON.2	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Timer 1 run control bit. 1/0 -&gt; on/off.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C00000"/>
                </a:solidFill>
              </a:rPr>
              <a:t>TF1 </a:t>
            </a:r>
            <a:r>
              <a:rPr lang="en-US" b="1" dirty="0"/>
              <a:t>	TCON.3 	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Timer 1 overflow flag.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7BEDE1B-02E3-2AE3-17A9-BBD3B888512C}"/>
              </a:ext>
            </a:extLst>
          </p:cNvPr>
          <p:cNvSpPr txBox="1"/>
          <p:nvPr/>
        </p:nvSpPr>
        <p:spPr>
          <a:xfrm>
            <a:off x="8169999" y="755955"/>
            <a:ext cx="22032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7030A0"/>
                </a:solidFill>
              </a:rPr>
              <a:t>TCON REGISTER 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E7B9B965-7394-B836-57EB-8CD48D370CD8}"/>
              </a:ext>
            </a:extLst>
          </p:cNvPr>
          <p:cNvSpPr/>
          <p:nvPr/>
        </p:nvSpPr>
        <p:spPr>
          <a:xfrm>
            <a:off x="94056" y="645523"/>
            <a:ext cx="5758106" cy="6167269"/>
          </a:xfrm>
          <a:prstGeom prst="roundRect">
            <a:avLst>
              <a:gd name="adj" fmla="val 6182"/>
            </a:avLst>
          </a:prstGeom>
          <a:solidFill>
            <a:schemeClr val="bg1"/>
          </a:solidFill>
          <a:ln w="5715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FCB1C75C-152E-483B-9EC5-82155D868F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612" y="800168"/>
            <a:ext cx="5290921" cy="1070933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0E0AF0E8-5E6C-439D-8F48-C68B02899F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031" y="3833606"/>
            <a:ext cx="4496649" cy="2766016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0AD66661-2DFC-1318-EB2A-3B055544A3BE}"/>
              </a:ext>
            </a:extLst>
          </p:cNvPr>
          <p:cNvSpPr txBox="1"/>
          <p:nvPr/>
        </p:nvSpPr>
        <p:spPr>
          <a:xfrm>
            <a:off x="1870724" y="685652"/>
            <a:ext cx="20486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7030A0"/>
                </a:solidFill>
              </a:rPr>
              <a:t>TMOD REGISTOR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C68261C-C0EE-0674-8C8F-9BEA8CC6F77E}"/>
              </a:ext>
            </a:extLst>
          </p:cNvPr>
          <p:cNvSpPr txBox="1"/>
          <p:nvPr/>
        </p:nvSpPr>
        <p:spPr>
          <a:xfrm>
            <a:off x="137796" y="1802281"/>
            <a:ext cx="5827972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3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C00000"/>
                </a:solidFill>
              </a:rPr>
              <a:t>GATE: </a:t>
            </a:r>
            <a:r>
              <a:rPr lang="en-US" dirty="0"/>
              <a:t>To instruct 8051 if starting and stopping timer 	by software or hardware control. Gate = 0/1 	for software/hardware configuration</a:t>
            </a:r>
          </a:p>
          <a:p>
            <a:pPr marL="285750" indent="-285750">
              <a:spcBef>
                <a:spcPts val="3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C00000"/>
                </a:solidFill>
              </a:rPr>
              <a:t>C/T: 	</a:t>
            </a:r>
            <a:r>
              <a:rPr lang="en-US" dirty="0"/>
              <a:t>When C/T = 1, the timer is used as a counter 	and gets its pulses from outside the 8051.</a:t>
            </a:r>
          </a:p>
          <a:p>
            <a:pPr marL="285750" indent="-285750">
              <a:spcBef>
                <a:spcPts val="3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C00000"/>
                </a:solidFill>
              </a:rPr>
              <a:t>MODE:</a:t>
            </a:r>
          </a:p>
        </p:txBody>
      </p:sp>
    </p:spTree>
    <p:extLst>
      <p:ext uri="{BB962C8B-B14F-4D97-AF65-F5344CB8AC3E}">
        <p14:creationId xmlns:p14="http://schemas.microsoft.com/office/powerpoint/2010/main" val="1527671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93163B-8B34-E883-9C89-E3FEE61519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D83F7F6-A4F4-E8D5-DC1D-918D01FAFEF3}"/>
              </a:ext>
            </a:extLst>
          </p:cNvPr>
          <p:cNvSpPr/>
          <p:nvPr/>
        </p:nvSpPr>
        <p:spPr>
          <a:xfrm>
            <a:off x="0" y="0"/>
            <a:ext cx="12192000" cy="601587"/>
          </a:xfrm>
          <a:prstGeom prst="rect">
            <a:avLst/>
          </a:prstGeom>
          <a:ln>
            <a:noFill/>
          </a:ln>
        </p:spPr>
        <p:style>
          <a:lnRef idx="0">
            <a:scrgbClr r="0" g="0" b="0"/>
          </a:lnRef>
          <a:fillRef idx="1002">
            <a:schemeClr val="dk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914400" lvl="1" indent="-457200">
              <a:buFont typeface="Times New Roman" panose="02020603050405020304" pitchFamily="18" charset="0"/>
              <a:buChar char="※"/>
            </a:pPr>
            <a:r>
              <a:rPr lang="en-IN" sz="2800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INTERRUPT ENABLE REGISTER (IE):</a:t>
            </a:r>
          </a:p>
        </p:txBody>
      </p:sp>
      <p:sp>
        <p:nvSpPr>
          <p:cNvPr id="5" name="Parallelogram 4">
            <a:extLst>
              <a:ext uri="{FF2B5EF4-FFF2-40B4-BE49-F238E27FC236}">
                <a16:creationId xmlns:a16="http://schemas.microsoft.com/office/drawing/2014/main" id="{4F4DDA96-2216-7874-5A5B-53F2E0FEB1BB}"/>
              </a:ext>
            </a:extLst>
          </p:cNvPr>
          <p:cNvSpPr/>
          <p:nvPr/>
        </p:nvSpPr>
        <p:spPr>
          <a:xfrm>
            <a:off x="10373267" y="-9866"/>
            <a:ext cx="2621279" cy="601587"/>
          </a:xfrm>
          <a:prstGeom prst="parallelogram">
            <a:avLst>
              <a:gd name="adj" fmla="val 116679"/>
            </a:avLst>
          </a:prstGeom>
          <a:gradFill flip="none" rotWithShape="1">
            <a:gsLst>
              <a:gs pos="0">
                <a:srgbClr val="BF8AC8"/>
              </a:gs>
              <a:gs pos="100000">
                <a:srgbClr val="FAF3FF">
                  <a:alpha val="85000"/>
                </a:srgbClr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6" name="Parallelogram 5">
            <a:extLst>
              <a:ext uri="{FF2B5EF4-FFF2-40B4-BE49-F238E27FC236}">
                <a16:creationId xmlns:a16="http://schemas.microsoft.com/office/drawing/2014/main" id="{D877D186-BCBC-9E6F-C0AC-281301F1C2A4}"/>
              </a:ext>
            </a:extLst>
          </p:cNvPr>
          <p:cNvSpPr/>
          <p:nvPr/>
        </p:nvSpPr>
        <p:spPr>
          <a:xfrm>
            <a:off x="10301682" y="275"/>
            <a:ext cx="856238" cy="601036"/>
          </a:xfrm>
          <a:prstGeom prst="parallelogram">
            <a:avLst>
              <a:gd name="adj" fmla="val 114588"/>
            </a:avLst>
          </a:prstGeom>
          <a:solidFill>
            <a:srgbClr val="A31153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Parallelogram 6">
            <a:extLst>
              <a:ext uri="{FF2B5EF4-FFF2-40B4-BE49-F238E27FC236}">
                <a16:creationId xmlns:a16="http://schemas.microsoft.com/office/drawing/2014/main" id="{67538897-BDE9-F454-6335-8ABB84E7C6D9}"/>
              </a:ext>
            </a:extLst>
          </p:cNvPr>
          <p:cNvSpPr/>
          <p:nvPr/>
        </p:nvSpPr>
        <p:spPr>
          <a:xfrm>
            <a:off x="10537743" y="-9590"/>
            <a:ext cx="856238" cy="601036"/>
          </a:xfrm>
          <a:prstGeom prst="parallelogram">
            <a:avLst>
              <a:gd name="adj" fmla="val 115984"/>
            </a:avLst>
          </a:prstGeom>
          <a:solidFill>
            <a:srgbClr val="953B91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" name="Picture 2" descr="IIT Kharagpur Logo - PNG Logo Vector Brand Downloads (SVG, EPS)">
            <a:extLst>
              <a:ext uri="{FF2B5EF4-FFF2-40B4-BE49-F238E27FC236}">
                <a16:creationId xmlns:a16="http://schemas.microsoft.com/office/drawing/2014/main" id="{85D4D38D-4EF6-150A-C78A-C4A50B4566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7717" y="-26316"/>
            <a:ext cx="634486" cy="634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E2103BA-A1BE-12C4-B7FA-57D5E37D54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1906429"/>
              </p:ext>
            </p:extLst>
          </p:nvPr>
        </p:nvGraphicFramePr>
        <p:xfrm>
          <a:off x="1018546" y="1114387"/>
          <a:ext cx="6174736" cy="4644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1842">
                  <a:extLst>
                    <a:ext uri="{9D8B030D-6E8A-4147-A177-3AD203B41FA5}">
                      <a16:colId xmlns:a16="http://schemas.microsoft.com/office/drawing/2014/main" val="1556829290"/>
                    </a:ext>
                  </a:extLst>
                </a:gridCol>
                <a:gridCol w="771842">
                  <a:extLst>
                    <a:ext uri="{9D8B030D-6E8A-4147-A177-3AD203B41FA5}">
                      <a16:colId xmlns:a16="http://schemas.microsoft.com/office/drawing/2014/main" val="3289003209"/>
                    </a:ext>
                  </a:extLst>
                </a:gridCol>
                <a:gridCol w="771842">
                  <a:extLst>
                    <a:ext uri="{9D8B030D-6E8A-4147-A177-3AD203B41FA5}">
                      <a16:colId xmlns:a16="http://schemas.microsoft.com/office/drawing/2014/main" val="4172371164"/>
                    </a:ext>
                  </a:extLst>
                </a:gridCol>
                <a:gridCol w="771842">
                  <a:extLst>
                    <a:ext uri="{9D8B030D-6E8A-4147-A177-3AD203B41FA5}">
                      <a16:colId xmlns:a16="http://schemas.microsoft.com/office/drawing/2014/main" val="2808892702"/>
                    </a:ext>
                  </a:extLst>
                </a:gridCol>
                <a:gridCol w="771842">
                  <a:extLst>
                    <a:ext uri="{9D8B030D-6E8A-4147-A177-3AD203B41FA5}">
                      <a16:colId xmlns:a16="http://schemas.microsoft.com/office/drawing/2014/main" val="3525403563"/>
                    </a:ext>
                  </a:extLst>
                </a:gridCol>
                <a:gridCol w="771842">
                  <a:extLst>
                    <a:ext uri="{9D8B030D-6E8A-4147-A177-3AD203B41FA5}">
                      <a16:colId xmlns:a16="http://schemas.microsoft.com/office/drawing/2014/main" val="2795161682"/>
                    </a:ext>
                  </a:extLst>
                </a:gridCol>
                <a:gridCol w="771842">
                  <a:extLst>
                    <a:ext uri="{9D8B030D-6E8A-4147-A177-3AD203B41FA5}">
                      <a16:colId xmlns:a16="http://schemas.microsoft.com/office/drawing/2014/main" val="2574520610"/>
                    </a:ext>
                  </a:extLst>
                </a:gridCol>
                <a:gridCol w="771842">
                  <a:extLst>
                    <a:ext uri="{9D8B030D-6E8A-4147-A177-3AD203B41FA5}">
                      <a16:colId xmlns:a16="http://schemas.microsoft.com/office/drawing/2014/main" val="1896922324"/>
                    </a:ext>
                  </a:extLst>
                </a:gridCol>
              </a:tblGrid>
              <a:tr h="46444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bg1"/>
                          </a:solidFill>
                        </a:rPr>
                        <a:t>EA</a:t>
                      </a: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bg1"/>
                          </a:solidFill>
                        </a:rPr>
                        <a:t>-</a:t>
                      </a: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bg1"/>
                          </a:solidFill>
                        </a:rPr>
                        <a:t>ET2</a:t>
                      </a: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bg1"/>
                          </a:solidFill>
                        </a:rPr>
                        <a:t>ES</a:t>
                      </a: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bg1"/>
                          </a:solidFill>
                        </a:rPr>
                        <a:t>ET1</a:t>
                      </a: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bg1"/>
                          </a:solidFill>
                        </a:rPr>
                        <a:t>EX1</a:t>
                      </a: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bg1"/>
                          </a:solidFill>
                        </a:rPr>
                        <a:t>ET0</a:t>
                      </a: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bg1"/>
                          </a:solidFill>
                        </a:rPr>
                        <a:t>EX0</a:t>
                      </a:r>
                    </a:p>
                  </a:txBody>
                  <a:tcPr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505509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24161964-5819-E06B-216C-288DB798C053}"/>
              </a:ext>
            </a:extLst>
          </p:cNvPr>
          <p:cNvSpPr txBox="1"/>
          <p:nvPr/>
        </p:nvSpPr>
        <p:spPr>
          <a:xfrm>
            <a:off x="703585" y="1913043"/>
            <a:ext cx="7475214" cy="46103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rgbClr val="C00000"/>
                </a:solidFill>
              </a:rPr>
              <a:t>EX0</a:t>
            </a:r>
            <a:r>
              <a:rPr lang="en-US" sz="2200" b="1" dirty="0"/>
              <a:t> 	IE.0	Enables or disables external interrupt 0</a:t>
            </a:r>
          </a:p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rgbClr val="C00000"/>
                </a:solidFill>
              </a:rPr>
              <a:t>ET0</a:t>
            </a:r>
            <a:r>
              <a:rPr lang="en-US" sz="2200" b="1" dirty="0"/>
              <a:t> 	IE.1	Enables or disables timer 0 overflow interrupt</a:t>
            </a:r>
          </a:p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rgbClr val="C00000"/>
                </a:solidFill>
              </a:rPr>
              <a:t>EX1</a:t>
            </a:r>
            <a:r>
              <a:rPr lang="en-US" sz="2200" b="1" dirty="0"/>
              <a:t> 	IE.2	Enables or disables external interrupt 1</a:t>
            </a:r>
          </a:p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rgbClr val="C00000"/>
                </a:solidFill>
              </a:rPr>
              <a:t>ET1 </a:t>
            </a:r>
            <a:r>
              <a:rPr lang="en-US" sz="2200" b="1" dirty="0"/>
              <a:t>	IE.3 	Enables or disables timer 1 overflow interrupt</a:t>
            </a:r>
          </a:p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rgbClr val="C00000"/>
                </a:solidFill>
              </a:rPr>
              <a:t>ES</a:t>
            </a:r>
            <a:r>
              <a:rPr lang="en-US" sz="2200" b="1" dirty="0"/>
              <a:t> 	IE.4 	Enables or disables the serial port interrupt</a:t>
            </a:r>
          </a:p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rgbClr val="C00000"/>
                </a:solidFill>
              </a:rPr>
              <a:t>ET2</a:t>
            </a:r>
            <a:r>
              <a:rPr lang="en-US" sz="2200" b="1" dirty="0"/>
              <a:t> 	IE.5	Enables or disables timer 2 overflow or 		capture interrupt (8952)</a:t>
            </a:r>
          </a:p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rgbClr val="C00000"/>
                </a:solidFill>
              </a:rPr>
              <a:t>--</a:t>
            </a:r>
            <a:r>
              <a:rPr lang="en-US" sz="2200" b="1" dirty="0"/>
              <a:t>	IE.6 	Not implemented, reserved for future use</a:t>
            </a:r>
          </a:p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rgbClr val="C00000"/>
                </a:solidFill>
              </a:rPr>
              <a:t>EA</a:t>
            </a:r>
            <a:r>
              <a:rPr lang="en-US" sz="2200" b="1" dirty="0"/>
              <a:t> 	IE.7 	Disables all interrupts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FA2A582-4A11-7D03-5B0F-D5DB3B42726A}"/>
              </a:ext>
            </a:extLst>
          </p:cNvPr>
          <p:cNvSpPr/>
          <p:nvPr/>
        </p:nvSpPr>
        <p:spPr>
          <a:xfrm>
            <a:off x="8178798" y="1429932"/>
            <a:ext cx="3813403" cy="726410"/>
          </a:xfrm>
          <a:prstGeom prst="roundRect">
            <a:avLst>
              <a:gd name="adj" fmla="val 10296"/>
            </a:avLst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rgbClr val="7030A0"/>
                </a:solidFill>
              </a:rPr>
              <a:t>(a)  </a:t>
            </a:r>
            <a:r>
              <a:rPr lang="en-US" b="1" dirty="0">
                <a:solidFill>
                  <a:schemeClr val="accent6"/>
                </a:solidFill>
              </a:rPr>
              <a:t>CLR IE.7   </a:t>
            </a:r>
            <a:r>
              <a:rPr lang="en-US" b="1" dirty="0">
                <a:solidFill>
                  <a:schemeClr val="tx1"/>
                </a:solidFill>
              </a:rPr>
              <a:t>;DISABLE INTERRUPTS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EDFF8C6-AC98-9E06-65DD-CB60073A30D1}"/>
              </a:ext>
            </a:extLst>
          </p:cNvPr>
          <p:cNvSpPr txBox="1"/>
          <p:nvPr/>
        </p:nvSpPr>
        <p:spPr>
          <a:xfrm>
            <a:off x="6563360" y="780173"/>
            <a:ext cx="50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3769B51-5695-6D1D-0070-0960EE2E25B2}"/>
              </a:ext>
            </a:extLst>
          </p:cNvPr>
          <p:cNvSpPr txBox="1"/>
          <p:nvPr/>
        </p:nvSpPr>
        <p:spPr>
          <a:xfrm>
            <a:off x="1178560" y="788186"/>
            <a:ext cx="50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D7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00D63BE-879A-4E89-EA50-AC87E83A5EC4}"/>
              </a:ext>
            </a:extLst>
          </p:cNvPr>
          <p:cNvSpPr/>
          <p:nvPr/>
        </p:nvSpPr>
        <p:spPr>
          <a:xfrm>
            <a:off x="8178798" y="2825571"/>
            <a:ext cx="3813403" cy="1284454"/>
          </a:xfrm>
          <a:prstGeom prst="roundRect">
            <a:avLst>
              <a:gd name="adj" fmla="val 10296"/>
            </a:avLst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rgbClr val="7030A0"/>
                </a:solidFill>
              </a:rPr>
              <a:t>(b)</a:t>
            </a:r>
            <a:r>
              <a:rPr lang="en-US" dirty="0">
                <a:solidFill>
                  <a:srgbClr val="7030A0"/>
                </a:solidFill>
              </a:rPr>
              <a:t>  </a:t>
            </a:r>
            <a:r>
              <a:rPr lang="en-US" b="1" dirty="0">
                <a:solidFill>
                  <a:schemeClr val="accent6"/>
                </a:solidFill>
              </a:rPr>
              <a:t>SETB IE.7   </a:t>
            </a:r>
            <a:r>
              <a:rPr lang="en-US" b="1" dirty="0">
                <a:solidFill>
                  <a:schemeClr val="tx1"/>
                </a:solidFill>
              </a:rPr>
              <a:t>;ENABLE INTERRUPTS</a:t>
            </a:r>
          </a:p>
          <a:p>
            <a:r>
              <a:rPr lang="en-US" b="1" dirty="0">
                <a:solidFill>
                  <a:srgbClr val="7030A0"/>
                </a:solidFill>
              </a:rPr>
              <a:t>       </a:t>
            </a:r>
            <a:r>
              <a:rPr lang="en-US" b="1" dirty="0">
                <a:solidFill>
                  <a:schemeClr val="accent6"/>
                </a:solidFill>
              </a:rPr>
              <a:t>SETB IE.0   </a:t>
            </a:r>
            <a:r>
              <a:rPr lang="en-US" b="1" dirty="0">
                <a:solidFill>
                  <a:schemeClr val="tx1"/>
                </a:solidFill>
              </a:rPr>
              <a:t>;ENABLE INTERRUPT 0</a:t>
            </a:r>
            <a:endParaRPr lang="en-US" b="1" dirty="0">
              <a:solidFill>
                <a:schemeClr val="accent6"/>
              </a:solidFill>
            </a:endParaRPr>
          </a:p>
          <a:p>
            <a:r>
              <a:rPr lang="en-US" dirty="0"/>
              <a:t>       </a:t>
            </a:r>
            <a:r>
              <a:rPr lang="en-US" b="1" dirty="0">
                <a:solidFill>
                  <a:schemeClr val="accent6"/>
                </a:solidFill>
              </a:rPr>
              <a:t>SETB IE.2   </a:t>
            </a:r>
            <a:r>
              <a:rPr lang="en-US" b="1" dirty="0">
                <a:solidFill>
                  <a:schemeClr val="tx1"/>
                </a:solidFill>
              </a:rPr>
              <a:t>;ENABLE INTERRUPT 1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3A86B63-8299-1FD1-3D10-0CE8588AA65A}"/>
              </a:ext>
            </a:extLst>
          </p:cNvPr>
          <p:cNvSpPr/>
          <p:nvPr/>
        </p:nvSpPr>
        <p:spPr>
          <a:xfrm>
            <a:off x="8178798" y="4778178"/>
            <a:ext cx="3813403" cy="726410"/>
          </a:xfrm>
          <a:prstGeom prst="roundRect">
            <a:avLst>
              <a:gd name="adj" fmla="val 10296"/>
            </a:avLst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rgbClr val="7030A0"/>
                </a:solidFill>
              </a:rPr>
              <a:t>(c)   </a:t>
            </a:r>
            <a:r>
              <a:rPr lang="en-US" b="1" dirty="0">
                <a:solidFill>
                  <a:schemeClr val="accent6"/>
                </a:solidFill>
              </a:rPr>
              <a:t>MOV IE, #82 </a:t>
            </a:r>
            <a:r>
              <a:rPr lang="en-US" b="1" dirty="0">
                <a:solidFill>
                  <a:schemeClr val="tx1"/>
                </a:solidFill>
              </a:rPr>
              <a:t>;ENABLE TIMER 0</a:t>
            </a:r>
          </a:p>
        </p:txBody>
      </p:sp>
    </p:spTree>
    <p:extLst>
      <p:ext uri="{BB962C8B-B14F-4D97-AF65-F5344CB8AC3E}">
        <p14:creationId xmlns:p14="http://schemas.microsoft.com/office/powerpoint/2010/main" val="40042467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575DA9-7BA2-B5CB-047E-F9D840179F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62C8382-1AE6-A13F-871E-5CA03C300E7B}"/>
              </a:ext>
            </a:extLst>
          </p:cNvPr>
          <p:cNvSpPr/>
          <p:nvPr/>
        </p:nvSpPr>
        <p:spPr>
          <a:xfrm>
            <a:off x="0" y="0"/>
            <a:ext cx="12192000" cy="601587"/>
          </a:xfrm>
          <a:prstGeom prst="rect">
            <a:avLst/>
          </a:prstGeom>
          <a:ln>
            <a:noFill/>
          </a:ln>
        </p:spPr>
        <p:style>
          <a:lnRef idx="0">
            <a:scrgbClr r="0" g="0" b="0"/>
          </a:lnRef>
          <a:fillRef idx="1002">
            <a:schemeClr val="dk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914400" lvl="1" indent="-457200">
              <a:buFont typeface="Times New Roman" panose="02020603050405020304" pitchFamily="18" charset="0"/>
              <a:buChar char="※"/>
            </a:pPr>
            <a:r>
              <a:rPr lang="en-IN" sz="2800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TIMER INTERRUPTS</a:t>
            </a:r>
          </a:p>
        </p:txBody>
      </p:sp>
      <p:sp>
        <p:nvSpPr>
          <p:cNvPr id="5" name="Parallelogram 4">
            <a:extLst>
              <a:ext uri="{FF2B5EF4-FFF2-40B4-BE49-F238E27FC236}">
                <a16:creationId xmlns:a16="http://schemas.microsoft.com/office/drawing/2014/main" id="{9D049D3A-5422-95DA-B224-285B7012A6DF}"/>
              </a:ext>
            </a:extLst>
          </p:cNvPr>
          <p:cNvSpPr/>
          <p:nvPr/>
        </p:nvSpPr>
        <p:spPr>
          <a:xfrm>
            <a:off x="10373267" y="-9866"/>
            <a:ext cx="2621279" cy="601587"/>
          </a:xfrm>
          <a:prstGeom prst="parallelogram">
            <a:avLst>
              <a:gd name="adj" fmla="val 116679"/>
            </a:avLst>
          </a:prstGeom>
          <a:gradFill flip="none" rotWithShape="1">
            <a:gsLst>
              <a:gs pos="0">
                <a:srgbClr val="BF8AC8"/>
              </a:gs>
              <a:gs pos="100000">
                <a:srgbClr val="FAF3FF">
                  <a:alpha val="85000"/>
                </a:srgbClr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6" name="Parallelogram 5">
            <a:extLst>
              <a:ext uri="{FF2B5EF4-FFF2-40B4-BE49-F238E27FC236}">
                <a16:creationId xmlns:a16="http://schemas.microsoft.com/office/drawing/2014/main" id="{75F4F54C-295F-3980-167D-3E910D6FCDF7}"/>
              </a:ext>
            </a:extLst>
          </p:cNvPr>
          <p:cNvSpPr/>
          <p:nvPr/>
        </p:nvSpPr>
        <p:spPr>
          <a:xfrm>
            <a:off x="10301682" y="275"/>
            <a:ext cx="856238" cy="601036"/>
          </a:xfrm>
          <a:prstGeom prst="parallelogram">
            <a:avLst>
              <a:gd name="adj" fmla="val 114588"/>
            </a:avLst>
          </a:prstGeom>
          <a:solidFill>
            <a:srgbClr val="A31153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Parallelogram 6">
            <a:extLst>
              <a:ext uri="{FF2B5EF4-FFF2-40B4-BE49-F238E27FC236}">
                <a16:creationId xmlns:a16="http://schemas.microsoft.com/office/drawing/2014/main" id="{4A4C42FA-DFD9-E74E-E3CC-02F6FBAD8F53}"/>
              </a:ext>
            </a:extLst>
          </p:cNvPr>
          <p:cNvSpPr/>
          <p:nvPr/>
        </p:nvSpPr>
        <p:spPr>
          <a:xfrm>
            <a:off x="10537743" y="-9590"/>
            <a:ext cx="856238" cy="601036"/>
          </a:xfrm>
          <a:prstGeom prst="parallelogram">
            <a:avLst>
              <a:gd name="adj" fmla="val 115984"/>
            </a:avLst>
          </a:prstGeom>
          <a:solidFill>
            <a:srgbClr val="953B91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" name="Picture 2" descr="IIT Kharagpur Logo - PNG Logo Vector Brand Downloads (SVG, EPS)">
            <a:extLst>
              <a:ext uri="{FF2B5EF4-FFF2-40B4-BE49-F238E27FC236}">
                <a16:creationId xmlns:a16="http://schemas.microsoft.com/office/drawing/2014/main" id="{34ABABE3-4AE8-683C-A5E5-107E176C81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7717" y="-26316"/>
            <a:ext cx="634486" cy="634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F7655B4-2551-430E-85A0-DE4961801536}"/>
              </a:ext>
            </a:extLst>
          </p:cNvPr>
          <p:cNvSpPr/>
          <p:nvPr/>
        </p:nvSpPr>
        <p:spPr>
          <a:xfrm>
            <a:off x="416611" y="774655"/>
            <a:ext cx="11358777" cy="3164500"/>
          </a:xfrm>
          <a:prstGeom prst="rect">
            <a:avLst/>
          </a:prstGeom>
          <a:solidFill>
            <a:schemeClr val="bg1">
              <a:lumMod val="95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1 Machine cycle = 12 / 11.0592 MHz </a:t>
            </a:r>
          </a:p>
          <a:p>
            <a:pPr lvl="4"/>
            <a:r>
              <a:rPr lang="en-US" sz="2000" dirty="0">
                <a:solidFill>
                  <a:schemeClr val="tx1"/>
                </a:solidFill>
              </a:rPr>
              <a:t>= </a:t>
            </a:r>
            <a:r>
              <a:rPr lang="en-US" sz="2000" b="1" dirty="0">
                <a:solidFill>
                  <a:schemeClr val="tx1"/>
                </a:solidFill>
              </a:rPr>
              <a:t>1.085 µs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Max time construct time timer interrupt </a:t>
            </a:r>
          </a:p>
          <a:p>
            <a:r>
              <a:rPr lang="en-US" sz="2000" dirty="0">
                <a:solidFill>
                  <a:schemeClr val="tx1"/>
                </a:solidFill>
              </a:rPr>
              <a:t>		= </a:t>
            </a:r>
            <a:r>
              <a:rPr lang="en-US" sz="2000" b="1" dirty="0">
                <a:solidFill>
                  <a:schemeClr val="tx1"/>
                </a:solidFill>
              </a:rPr>
              <a:t>65536 * 1.085 * 10^-6 </a:t>
            </a:r>
          </a:p>
          <a:p>
            <a:r>
              <a:rPr lang="en-US" sz="2000" b="1" dirty="0">
                <a:solidFill>
                  <a:schemeClr val="tx1"/>
                </a:solidFill>
              </a:rPr>
              <a:t>		</a:t>
            </a:r>
            <a:r>
              <a:rPr lang="en-US" sz="2000" dirty="0">
                <a:solidFill>
                  <a:schemeClr val="tx1"/>
                </a:solidFill>
              </a:rPr>
              <a:t>= </a:t>
            </a:r>
            <a:r>
              <a:rPr lang="en-US" sz="2000" b="1" dirty="0">
                <a:solidFill>
                  <a:schemeClr val="tx1"/>
                </a:solidFill>
              </a:rPr>
              <a:t>71.1 </a:t>
            </a:r>
            <a:r>
              <a:rPr lang="en-US" sz="2000" b="1" dirty="0" err="1">
                <a:solidFill>
                  <a:schemeClr val="tx1"/>
                </a:solidFill>
              </a:rPr>
              <a:t>ms</a:t>
            </a:r>
            <a:endParaRPr lang="en-US" sz="20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Therefore, we construct 50ms and run it 20 times to get 1 Sec</a:t>
            </a:r>
          </a:p>
          <a:p>
            <a:r>
              <a:rPr lang="en-US" sz="2000" dirty="0">
                <a:solidFill>
                  <a:schemeClr val="tx1"/>
                </a:solidFill>
              </a:rPr>
              <a:t>		i.e. 50 </a:t>
            </a:r>
            <a:r>
              <a:rPr lang="en-US" sz="2000" dirty="0" err="1">
                <a:solidFill>
                  <a:schemeClr val="tx1"/>
                </a:solidFill>
              </a:rPr>
              <a:t>ms</a:t>
            </a:r>
            <a:r>
              <a:rPr lang="en-US" sz="2000" dirty="0">
                <a:solidFill>
                  <a:schemeClr val="tx1"/>
                </a:solidFill>
              </a:rPr>
              <a:t>/ 1.085 µs = 46080</a:t>
            </a:r>
          </a:p>
          <a:p>
            <a:r>
              <a:rPr lang="en-US" sz="2000" dirty="0">
                <a:solidFill>
                  <a:schemeClr val="tx1"/>
                </a:solidFill>
              </a:rPr>
              <a:t>		 65536 – 46080 = 19456 -&gt; </a:t>
            </a:r>
            <a:r>
              <a:rPr lang="en-US" sz="2000" b="1" dirty="0">
                <a:solidFill>
                  <a:schemeClr val="tx1"/>
                </a:solidFill>
              </a:rPr>
              <a:t>4C00 H (TH0 = 4C H and TL0 = 00 H)</a:t>
            </a:r>
            <a:endParaRPr lang="en-IN" sz="2000" b="1" dirty="0">
              <a:solidFill>
                <a:schemeClr val="tx1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B152AF9-FA37-BACA-1C9C-8A82B53397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252" y="3949296"/>
            <a:ext cx="10745496" cy="2280620"/>
          </a:xfrm>
          <a:prstGeom prst="rect">
            <a:avLst/>
          </a:prstGeom>
        </p:spPr>
      </p:pic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119D433D-49E7-6D00-2871-BACDE95ABDF0}"/>
              </a:ext>
            </a:extLst>
          </p:cNvPr>
          <p:cNvSpPr/>
          <p:nvPr/>
        </p:nvSpPr>
        <p:spPr>
          <a:xfrm>
            <a:off x="7457440" y="863600"/>
            <a:ext cx="4011308" cy="2143760"/>
          </a:xfrm>
          <a:prstGeom prst="roundRect">
            <a:avLst/>
          </a:prstGeom>
          <a:ln w="38100">
            <a:solidFill>
              <a:srgbClr val="7030A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TH0 and TL0: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The High and Low bytes where we load our starting number.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866534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8F3A93-9599-4CEC-6E82-AA2BA782B8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B373B64-328B-29C5-FD24-38EC1868831E}"/>
              </a:ext>
            </a:extLst>
          </p:cNvPr>
          <p:cNvSpPr/>
          <p:nvPr/>
        </p:nvSpPr>
        <p:spPr>
          <a:xfrm>
            <a:off x="0" y="0"/>
            <a:ext cx="12192000" cy="601587"/>
          </a:xfrm>
          <a:prstGeom prst="rect">
            <a:avLst/>
          </a:prstGeom>
          <a:ln>
            <a:noFill/>
          </a:ln>
        </p:spPr>
        <p:style>
          <a:lnRef idx="0">
            <a:scrgbClr r="0" g="0" b="0"/>
          </a:lnRef>
          <a:fillRef idx="1002">
            <a:schemeClr val="dk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914400" lvl="1" indent="-457200">
              <a:buFont typeface="Times New Roman" panose="02020603050405020304" pitchFamily="18" charset="0"/>
              <a:buChar char="※"/>
            </a:pPr>
            <a:r>
              <a:rPr lang="en-IN" sz="2800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TIPS:</a:t>
            </a:r>
          </a:p>
        </p:txBody>
      </p:sp>
      <p:sp>
        <p:nvSpPr>
          <p:cNvPr id="5" name="Parallelogram 4">
            <a:extLst>
              <a:ext uri="{FF2B5EF4-FFF2-40B4-BE49-F238E27FC236}">
                <a16:creationId xmlns:a16="http://schemas.microsoft.com/office/drawing/2014/main" id="{72EB2390-A550-8493-6658-B9FC31E22660}"/>
              </a:ext>
            </a:extLst>
          </p:cNvPr>
          <p:cNvSpPr/>
          <p:nvPr/>
        </p:nvSpPr>
        <p:spPr>
          <a:xfrm>
            <a:off x="10373267" y="-9866"/>
            <a:ext cx="2621279" cy="601587"/>
          </a:xfrm>
          <a:prstGeom prst="parallelogram">
            <a:avLst>
              <a:gd name="adj" fmla="val 116679"/>
            </a:avLst>
          </a:prstGeom>
          <a:gradFill flip="none" rotWithShape="1">
            <a:gsLst>
              <a:gs pos="0">
                <a:srgbClr val="BF8AC8"/>
              </a:gs>
              <a:gs pos="100000">
                <a:srgbClr val="FAF3FF">
                  <a:alpha val="85000"/>
                </a:srgbClr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6" name="Parallelogram 5">
            <a:extLst>
              <a:ext uri="{FF2B5EF4-FFF2-40B4-BE49-F238E27FC236}">
                <a16:creationId xmlns:a16="http://schemas.microsoft.com/office/drawing/2014/main" id="{FFAEB14F-00DC-5AA5-69B2-9BAAE6B84AB4}"/>
              </a:ext>
            </a:extLst>
          </p:cNvPr>
          <p:cNvSpPr/>
          <p:nvPr/>
        </p:nvSpPr>
        <p:spPr>
          <a:xfrm>
            <a:off x="10301682" y="275"/>
            <a:ext cx="856238" cy="601036"/>
          </a:xfrm>
          <a:prstGeom prst="parallelogram">
            <a:avLst>
              <a:gd name="adj" fmla="val 114588"/>
            </a:avLst>
          </a:prstGeom>
          <a:solidFill>
            <a:srgbClr val="A31153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Parallelogram 6">
            <a:extLst>
              <a:ext uri="{FF2B5EF4-FFF2-40B4-BE49-F238E27FC236}">
                <a16:creationId xmlns:a16="http://schemas.microsoft.com/office/drawing/2014/main" id="{81AAD947-160E-D577-FD0D-F0DFC6A2D4A1}"/>
              </a:ext>
            </a:extLst>
          </p:cNvPr>
          <p:cNvSpPr/>
          <p:nvPr/>
        </p:nvSpPr>
        <p:spPr>
          <a:xfrm>
            <a:off x="10537743" y="-9590"/>
            <a:ext cx="856238" cy="601036"/>
          </a:xfrm>
          <a:prstGeom prst="parallelogram">
            <a:avLst>
              <a:gd name="adj" fmla="val 115984"/>
            </a:avLst>
          </a:prstGeom>
          <a:solidFill>
            <a:srgbClr val="953B91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" name="Picture 2" descr="IIT Kharagpur Logo - PNG Logo Vector Brand Downloads (SVG, EPS)">
            <a:extLst>
              <a:ext uri="{FF2B5EF4-FFF2-40B4-BE49-F238E27FC236}">
                <a16:creationId xmlns:a16="http://schemas.microsoft.com/office/drawing/2014/main" id="{0FAF8D60-32AD-3898-DD42-4CCA44573B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7717" y="-26316"/>
            <a:ext cx="634486" cy="634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29EB33F-5C47-9101-DC43-67CAD5D86098}"/>
              </a:ext>
            </a:extLst>
          </p:cNvPr>
          <p:cNvSpPr/>
          <p:nvPr/>
        </p:nvSpPr>
        <p:spPr>
          <a:xfrm>
            <a:off x="199796" y="741680"/>
            <a:ext cx="3447643" cy="2600960"/>
          </a:xfrm>
          <a:prstGeom prst="roundRect">
            <a:avLst/>
          </a:prstGeom>
          <a:solidFill>
            <a:schemeClr val="bg2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</a:rPr>
              <a:t>START WITH 3 MEMORY LOCATIONS TO SAVE THE VALUE AND INITIALIZE THEM:</a:t>
            </a:r>
          </a:p>
          <a:p>
            <a:endParaRPr lang="en-US" sz="2000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r>
              <a:rPr lang="en-US" sz="2000" b="1" dirty="0">
                <a:solidFill>
                  <a:srgbClr val="C00000"/>
                </a:solidFill>
              </a:rPr>
              <a:t>HOURS</a:t>
            </a:r>
          </a:p>
          <a:p>
            <a:pPr marL="342900" indent="-342900">
              <a:buAutoNum type="arabicPeriod"/>
            </a:pPr>
            <a:r>
              <a:rPr lang="en-US" sz="2000" b="1" dirty="0">
                <a:solidFill>
                  <a:srgbClr val="C00000"/>
                </a:solidFill>
              </a:rPr>
              <a:t>MINUTES</a:t>
            </a:r>
          </a:p>
          <a:p>
            <a:pPr marL="342900" indent="-342900">
              <a:buAutoNum type="arabicPeriod"/>
            </a:pPr>
            <a:r>
              <a:rPr lang="en-US" sz="2000" b="1" dirty="0">
                <a:solidFill>
                  <a:srgbClr val="C00000"/>
                </a:solidFill>
              </a:rPr>
              <a:t>SECONDS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CC60189-6914-C2C3-6DED-AC9FB6DF8AD4}"/>
              </a:ext>
            </a:extLst>
          </p:cNvPr>
          <p:cNvSpPr/>
          <p:nvPr/>
        </p:nvSpPr>
        <p:spPr>
          <a:xfrm>
            <a:off x="3886187" y="738747"/>
            <a:ext cx="4314622" cy="2600960"/>
          </a:xfrm>
          <a:prstGeom prst="roundRect">
            <a:avLst/>
          </a:prstGeom>
          <a:solidFill>
            <a:schemeClr val="bg2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2000" dirty="0">
                <a:solidFill>
                  <a:schemeClr val="tx1"/>
                </a:solidFill>
              </a:rPr>
              <a:t>INTRODUCE ANOTHER RIGISTER/ MEMORY SEGMENT FOR COUNTER AND RUN IT 20 TIMES (TIMER INTERRUPT </a:t>
            </a:r>
            <a:r>
              <a:rPr lang="en-US" sz="2000" b="1" dirty="0">
                <a:solidFill>
                  <a:srgbClr val="C00000"/>
                </a:solidFill>
              </a:rPr>
              <a:t>TF0</a:t>
            </a:r>
            <a:r>
              <a:rPr lang="en-US" sz="2000" dirty="0">
                <a:solidFill>
                  <a:schemeClr val="tx1"/>
                </a:solidFill>
              </a:rPr>
              <a:t> HIGH COUNT).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6B0DAD4-A689-60D5-3A6F-D66AB7521904}"/>
              </a:ext>
            </a:extLst>
          </p:cNvPr>
          <p:cNvSpPr/>
          <p:nvPr/>
        </p:nvSpPr>
        <p:spPr>
          <a:xfrm>
            <a:off x="8432800" y="741680"/>
            <a:ext cx="3559403" cy="2600960"/>
          </a:xfrm>
          <a:prstGeom prst="roundRect">
            <a:avLst/>
          </a:prstGeom>
          <a:solidFill>
            <a:schemeClr val="bg2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</a:rPr>
              <a:t>ENTER REGISTER VALUES:</a:t>
            </a:r>
          </a:p>
          <a:p>
            <a:endParaRPr lang="en-US" sz="2000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r>
              <a:rPr lang="en-US" sz="2000" b="1" dirty="0">
                <a:solidFill>
                  <a:srgbClr val="C00000"/>
                </a:solidFill>
              </a:rPr>
              <a:t>IE</a:t>
            </a:r>
          </a:p>
          <a:p>
            <a:pPr marL="342900" indent="-342900">
              <a:buAutoNum type="arabicPeriod"/>
            </a:pPr>
            <a:r>
              <a:rPr lang="en-US" sz="2000" b="1" dirty="0">
                <a:solidFill>
                  <a:srgbClr val="C00000"/>
                </a:solidFill>
              </a:rPr>
              <a:t>TCON</a:t>
            </a:r>
          </a:p>
          <a:p>
            <a:pPr marL="342900" indent="-342900">
              <a:buAutoNum type="arabicPeriod"/>
            </a:pPr>
            <a:r>
              <a:rPr lang="en-US" sz="2000" b="1" dirty="0">
                <a:solidFill>
                  <a:srgbClr val="C00000"/>
                </a:solidFill>
              </a:rPr>
              <a:t>TOMD</a:t>
            </a:r>
          </a:p>
          <a:p>
            <a:pPr marL="342900" indent="-342900">
              <a:buAutoNum type="arabicPeriod"/>
            </a:pPr>
            <a:endParaRPr lang="en-US" sz="2000" dirty="0">
              <a:solidFill>
                <a:schemeClr val="tx1"/>
              </a:solidFill>
            </a:endParaRPr>
          </a:p>
          <a:p>
            <a:r>
              <a:rPr lang="en-US" sz="2000" dirty="0">
                <a:solidFill>
                  <a:schemeClr val="tx1"/>
                </a:solidFill>
              </a:rPr>
              <a:t>START TIMER i.e. TRO -&gt; 1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A2B96FB-1096-0B5E-3BD9-78D882E4D82E}"/>
              </a:ext>
            </a:extLst>
          </p:cNvPr>
          <p:cNvSpPr/>
          <p:nvPr/>
        </p:nvSpPr>
        <p:spPr>
          <a:xfrm>
            <a:off x="199796" y="3489960"/>
            <a:ext cx="5967323" cy="3215639"/>
          </a:xfrm>
          <a:prstGeom prst="roundRect">
            <a:avLst/>
          </a:prstGeom>
          <a:solidFill>
            <a:schemeClr val="bg2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rabicPeriod"/>
            </a:pPr>
            <a:endParaRPr lang="en-US" sz="2000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COUNT TF0</a:t>
            </a:r>
          </a:p>
          <a:p>
            <a:pPr marL="342900" indent="-342900">
              <a:buFontTx/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DEFINE CLOCK AND STOPWATCH ISR</a:t>
            </a:r>
          </a:p>
          <a:p>
            <a:pPr marL="342900" indent="-342900"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TF0 (20 -&gt; 0) UPDATE SECONDS REG</a:t>
            </a:r>
          </a:p>
          <a:p>
            <a:pPr marL="342900" indent="-342900"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SECONDS (0 -&gt; 60) UPDATE MINUTES</a:t>
            </a:r>
          </a:p>
          <a:p>
            <a:pPr marL="342900" indent="-342900"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MINUTES (0 -&gt; 60) UPDATE HOURS</a:t>
            </a:r>
          </a:p>
          <a:p>
            <a:pPr marL="342900" indent="-342900"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KEEP CHECKING MODE INPUT IN CLOCK MODE</a:t>
            </a:r>
          </a:p>
          <a:p>
            <a:pPr marL="342900" indent="-342900"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MODE -&gt; LOW GO TO STOPWATCH ISR</a:t>
            </a:r>
          </a:p>
          <a:p>
            <a:pPr marL="342900" indent="-342900"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KEEP CHECKING START AND STOP INPUT</a:t>
            </a:r>
          </a:p>
          <a:p>
            <a:pPr marL="342900" indent="-342900"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KEEP THE CLOCK RUNNING ALWAYS</a:t>
            </a: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6279080-7BF7-C0EA-106E-304DEA540A91}"/>
              </a:ext>
            </a:extLst>
          </p:cNvPr>
          <p:cNvSpPr/>
          <p:nvPr/>
        </p:nvSpPr>
        <p:spPr>
          <a:xfrm>
            <a:off x="6323739" y="3503697"/>
            <a:ext cx="5668464" cy="3215639"/>
          </a:xfrm>
          <a:prstGeom prst="roundRect">
            <a:avLst/>
          </a:prstGeom>
          <a:solidFill>
            <a:schemeClr val="bg2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2000" dirty="0">
                <a:solidFill>
                  <a:schemeClr val="tx1"/>
                </a:solidFill>
              </a:rPr>
              <a:t>AFTER GETTING THE INTERRUPT, 8051 LEAVES ALL ITS WORK AND DIRECTLY GO TO INTERRUPT SERVICE ROUTINE. </a:t>
            </a:r>
          </a:p>
          <a:p>
            <a:pPr algn="just"/>
            <a:endParaRPr lang="en-US" sz="2000" dirty="0">
              <a:solidFill>
                <a:schemeClr val="tx1"/>
              </a:solidFill>
            </a:endParaRPr>
          </a:p>
          <a:p>
            <a:pPr marL="457200" indent="-457200" algn="just"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PUSH DPH, DPL, ACC, PSW (IMMEDIATELY AFTER ENTERING ISR)</a:t>
            </a:r>
          </a:p>
          <a:p>
            <a:pPr marL="457200" indent="-457200" algn="just">
              <a:buAutoNum type="arabicPeriod"/>
            </a:pPr>
            <a:endParaRPr lang="en-US" sz="2000" dirty="0">
              <a:solidFill>
                <a:schemeClr val="tx1"/>
              </a:solidFill>
            </a:endParaRPr>
          </a:p>
          <a:p>
            <a:pPr marL="457200" indent="-457200" algn="just"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POP DPH, DPL, ACC,PSW (BEFORE RETI FROM ISR)  </a:t>
            </a:r>
          </a:p>
        </p:txBody>
      </p:sp>
    </p:spTree>
    <p:extLst>
      <p:ext uri="{BB962C8B-B14F-4D97-AF65-F5344CB8AC3E}">
        <p14:creationId xmlns:p14="http://schemas.microsoft.com/office/powerpoint/2010/main" val="26324295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2951</TotalTime>
  <Words>930</Words>
  <Application>Microsoft Office PowerPoint</Application>
  <PresentationFormat>Widescreen</PresentationFormat>
  <Paragraphs>129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samparka</dc:creator>
  <cp:lastModifiedBy>Samparka Dey</cp:lastModifiedBy>
  <cp:revision>22</cp:revision>
  <dcterms:created xsi:type="dcterms:W3CDTF">2026-03-10T05:35:10Z</dcterms:created>
  <dcterms:modified xsi:type="dcterms:W3CDTF">2026-03-20T07:42:27Z</dcterms:modified>
</cp:coreProperties>
</file>